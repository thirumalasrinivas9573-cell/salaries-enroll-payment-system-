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8"/>
  </p:notesMasterIdLst>
  <p:handoutMasterIdLst>
    <p:handoutMasterId r:id="rId19"/>
  </p:handoutMasterIdLst>
  <p:sldIdLst>
    <p:sldId id="256" r:id="rId2"/>
    <p:sldId id="426" r:id="rId3"/>
    <p:sldId id="427" r:id="rId4"/>
    <p:sldId id="428" r:id="rId5"/>
    <p:sldId id="429" r:id="rId6"/>
    <p:sldId id="430" r:id="rId7"/>
    <p:sldId id="431" r:id="rId8"/>
    <p:sldId id="432" r:id="rId9"/>
    <p:sldId id="433" r:id="rId10"/>
    <p:sldId id="434" r:id="rId11"/>
    <p:sldId id="437" r:id="rId12"/>
    <p:sldId id="438" r:id="rId13"/>
    <p:sldId id="439" r:id="rId14"/>
    <p:sldId id="435" r:id="rId15"/>
    <p:sldId id="436" r:id="rId16"/>
    <p:sldId id="29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autoAdjust="0"/>
    <p:restoredTop sz="94630" autoAdjust="0"/>
  </p:normalViewPr>
  <p:slideViewPr>
    <p:cSldViewPr>
      <p:cViewPr varScale="1">
        <p:scale>
          <a:sx n="87" d="100"/>
          <a:sy n="87" d="100"/>
        </p:scale>
        <p:origin x="499"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10/16/2026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10/16/2026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16-10-2026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Artificial Intelligence                                                                Dr. M. Vamsikrishna, Professor &amp; HoD, DCA.</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16-10-2026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Artificial Intelligence                                                                Dr. M. Vamsikrishna, Professor &amp; HoD, DCA.</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16-10-2026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Artificial Intelligence                                                                        Dr. M. Vamsikrishna, Professor &amp; HoD, DCA.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055440" y="2350000"/>
            <a:ext cx="10696612" cy="1950000"/>
          </a:xfrm>
          <a:prstGeom prst="rect">
            <a:avLst/>
          </a:prstGeom>
        </p:spPr>
        <p:txBody>
          <a:bodyPr vert="horz" lIns="91440" tIns="45720" rIns="91440" bIns="45720" rtlCol="0" anchor="b">
            <a:noAutofit/>
          </a:bodyPr>
          <a:lstStyle/>
          <a:p>
            <a:pPr algn="ctr" defTabSz="914400">
              <a:lnSpc>
                <a:spcPct val="90000"/>
              </a:lnSpc>
              <a:spcBef>
                <a:spcPct val="0"/>
              </a:spcBef>
              <a:defRPr/>
            </a:pPr>
            <a:r>
              <a:rPr lang="en-US" sz="3200" dirty="0">
                <a:solidFill>
                  <a:schemeClr val="accent2">
                    <a:lumMod val="50000"/>
                  </a:schemeClr>
                </a:solidFill>
                <a:latin typeface="Tw Cen MT" pitchFamily="34" charset="0"/>
                <a:ea typeface="+mj-ea"/>
                <a:cs typeface="+mj-cs"/>
              </a:rPr>
              <a:t>OOPS Through C++ Capstone Project Presentation</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sz="3200" dirty="0">
                <a:solidFill>
                  <a:schemeClr val="accent2">
                    <a:lumMod val="50000"/>
                  </a:schemeClr>
                </a:solidFill>
                <a:latin typeface="Tw Cen MT" pitchFamily="34" charset="0"/>
                <a:ea typeface="+mj-ea"/>
                <a:cs typeface="+mj-cs"/>
              </a:rPr>
              <a:t>on</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sz="4400" dirty="0">
                <a:solidFill>
                  <a:schemeClr val="accent2">
                    <a:lumMod val="50000"/>
                  </a:schemeClr>
                </a:solidFill>
                <a:latin typeface="Tw Cen MT" pitchFamily="34" charset="0"/>
                <a:ea typeface="+mj-ea"/>
                <a:cs typeface="+mj-cs"/>
              </a:rPr>
              <a:t>Salary Enroll Pay System</a:t>
            </a:r>
            <a:endParaRPr kumimoji="0" lang="en-IN" sz="4400" b="0" i="0" u="none" strike="noStrike" kern="1200" cap="none" spc="0" normalizeH="0" baseline="0" noProof="0" dirty="0">
              <a:ln>
                <a:noFill/>
              </a:ln>
              <a:solidFill>
                <a:schemeClr val="accent2">
                  <a:lumMod val="50000"/>
                </a:schemeClr>
              </a:solidFill>
              <a:effectLst/>
              <a:uLnTx/>
              <a:uFillTx/>
              <a:latin typeface="Tw Cen MT" pitchFamily="34" charset="0"/>
              <a:ea typeface="+mj-ea"/>
              <a:cs typeface="+mj-cs"/>
            </a:endParaRPr>
          </a:p>
        </p:txBody>
      </p:sp>
      <p:sp>
        <p:nvSpPr>
          <p:cNvPr id="6" name="Subtitle 2"/>
          <p:cNvSpPr txBox="1">
            <a:spLocks/>
          </p:cNvSpPr>
          <p:nvPr/>
        </p:nvSpPr>
        <p:spPr>
          <a:xfrm>
            <a:off x="479376" y="4400000"/>
            <a:ext cx="5600000" cy="2300000"/>
          </a:xfrm>
          <a:prstGeom prst="rect">
            <a:avLst/>
          </a:prstGeom>
        </p:spPr>
        <p:txBody>
          <a:bodyPr vert="horz" lIns="91440" tIns="45720" rIns="91440" bIns="45720" rtlCol="0"/>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2060"/>
                </a:solidFill>
                <a:effectLst/>
                <a:uLnTx/>
                <a:uFillTx/>
                <a:latin typeface="Maiandra GD" panose="020E0502030308020204" pitchFamily="34" charset="0"/>
              </a:rPr>
              <a:t>Presentation By</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Tirumala Srinivas (25B11AAID13)</a:t>
            </a:r>
            <a:endParaRPr kumimoji="0" lang="en-IN" sz="2000" b="0" i="0" u="none" strike="noStrike" kern="1200" cap="none" spc="0" normalizeH="0" baseline="0" noProof="0" dirty="0">
              <a:ln>
                <a:noFill/>
              </a:ln>
              <a:solidFill>
                <a:srgbClr val="002060"/>
              </a:solidFill>
              <a:effectLst/>
              <a:uLnTx/>
              <a:uFillTx/>
              <a:latin typeface="Maiandra GD" panose="020E0502030308020204" pitchFamily="34" charset="0"/>
            </a:endParaRP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Lasya (25B11AI841)</a:t>
            </a:r>
            <a:endParaRPr kumimoji="0" lang="en-IN" sz="2000" b="0" i="0" u="none" strike="noStrike" kern="1200" cap="none" spc="0" normalizeH="0" baseline="0" noProof="0" dirty="0">
              <a:ln>
                <a:noFill/>
              </a:ln>
              <a:solidFill>
                <a:srgbClr val="002060"/>
              </a:solidFill>
              <a:effectLst/>
              <a:uLnTx/>
              <a:uFillTx/>
              <a:latin typeface="Maiandra GD" panose="020E0502030308020204" pitchFamily="34" charset="0"/>
            </a:endParaRP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D. Janani (25B11AI274)</a:t>
            </a:r>
            <a:endParaRPr kumimoji="0" lang="en-IN" sz="2000" b="0" i="0" u="none" strike="noStrike" kern="1200" cap="none" spc="0" normalizeH="0" baseline="0" noProof="0" dirty="0">
              <a:ln>
                <a:noFill/>
              </a:ln>
              <a:solidFill>
                <a:srgbClr val="002060"/>
              </a:solidFill>
              <a:effectLst/>
              <a:uLnTx/>
              <a:uFillTx/>
              <a:latin typeface="Maiandra GD" panose="020E0502030308020204" pitchFamily="34" charset="0"/>
            </a:endParaRP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Ch. Charan (25B11AI19)</a:t>
            </a:r>
            <a:endParaRPr kumimoji="0" lang="en-IN" sz="2000" b="0" i="0" u="none" strike="noStrike" kern="1200" cap="none" spc="0" normalizeH="0" baseline="0" noProof="0" dirty="0">
              <a:ln>
                <a:noFill/>
              </a:ln>
              <a:solidFill>
                <a:srgbClr val="002060"/>
              </a:solidFill>
              <a:effectLst/>
              <a:uLnTx/>
              <a:uFillTx/>
              <a:latin typeface="Maiandra GD" panose="020E0502030308020204" pitchFamily="34" charset="0"/>
            </a:endParaRPr>
          </a:p>
        </p:txBody>
      </p:sp>
      <p:sp>
        <p:nvSpPr>
          <p:cNvPr id="2" name="Subtitle 2">
            <a:extLst>
              <a:ext uri="{FF2B5EF4-FFF2-40B4-BE49-F238E27FC236}">
                <a16:creationId xmlns:a16="http://schemas.microsoft.com/office/drawing/2014/main" id="{2B6ADB66-A6C8-1057-F193-83DD6FBC229C}"/>
              </a:ext>
            </a:extLst>
          </p:cNvPr>
          <p:cNvSpPr txBox="1">
            <a:spLocks/>
          </p:cNvSpPr>
          <p:nvPr/>
        </p:nvSpPr>
        <p:spPr>
          <a:xfrm>
            <a:off x="6900000" y="4400000"/>
            <a:ext cx="4900000" cy="2300000"/>
          </a:xfrm>
          <a:prstGeom prst="rect">
            <a:avLst/>
          </a:prstGeom>
        </p:spPr>
        <p:txBody>
          <a:bodyPr vert="horz" lIns="91440" tIns="45720" rIns="91440" bIns="45720" rtlCol="0"/>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2060"/>
                </a:solidFill>
                <a:effectLst/>
                <a:uLnTx/>
                <a:uFillTx/>
                <a:latin typeface="Maiandra GD" panose="020E0502030308020204" pitchFamily="34" charset="0"/>
              </a:rPr>
              <a:t>Under the </a:t>
            </a:r>
            <a:r>
              <a:rPr lang="en-US" b="1" dirty="0" err="1">
                <a:solidFill>
                  <a:srgbClr val="002060"/>
                </a:solidFill>
                <a:latin typeface="Maiandra GD" panose="020E0502030308020204" pitchFamily="34" charset="0"/>
              </a:rPr>
              <a:t>Gudileines</a:t>
            </a:r>
            <a:r>
              <a:rPr kumimoji="0" lang="en-US" sz="1800" b="1" i="0" u="none" strike="noStrike" kern="1200" cap="none" spc="0" normalizeH="0" baseline="0" noProof="0" dirty="0">
                <a:ln>
                  <a:noFill/>
                </a:ln>
                <a:solidFill>
                  <a:srgbClr val="002060"/>
                </a:solidFill>
                <a:effectLst/>
                <a:uLnTx/>
                <a:uFillTx/>
                <a:latin typeface="Maiandra GD" panose="020E0502030308020204" pitchFamily="34" charset="0"/>
              </a:rPr>
              <a:t> of</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err="1">
                <a:solidFill>
                  <a:srgbClr val="002060"/>
                </a:solidFill>
                <a:latin typeface="Maiandra GD" panose="020E0502030308020204" pitchFamily="34" charset="0"/>
              </a:rPr>
              <a:t>Thorati Vijaya Lakshmi (M.Tech)</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Ass</a:t>
            </a:r>
            <a:r>
              <a:rPr lang="en-US" sz="1600" dirty="0" err="1">
                <a:solidFill>
                  <a:srgbClr val="002060"/>
                </a:solidFill>
                <a:latin typeface="Maiandra GD" panose="020E0502030308020204" pitchFamily="34" charset="0"/>
              </a:rPr>
              <a:t>istant</a:t>
            </a:r>
            <a:r>
              <a:rPr kumimoji="0" lang="en-US" sz="1600" b="0" i="0" u="none" strike="noStrike" kern="1200" cap="none" spc="0" normalizeH="0" baseline="0" noProof="0" dirty="0">
                <a:ln>
                  <a:noFill/>
                </a:ln>
                <a:solidFill>
                  <a:srgbClr val="002060"/>
                </a:solidFill>
                <a:effectLst/>
                <a:uLnTx/>
                <a:uFillTx/>
                <a:latin typeface="Maiandra GD" panose="020E0502030308020204" pitchFamily="34" charset="0"/>
              </a:rPr>
              <a:t> Professor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rgbClr val="002060"/>
                </a:solidFill>
                <a:latin typeface="Maiandra GD" panose="020E0502030308020204" pitchFamily="34" charset="0"/>
              </a:rPr>
              <a:t>Department of AIML</a:t>
            </a:r>
            <a:endParaRPr kumimoji="0" lang="en-IN" sz="2000" b="0" i="0" u="none" strike="noStrike" kern="1200" cap="none" spc="0" normalizeH="0" baseline="0" noProof="0" dirty="0">
              <a:ln>
                <a:noFill/>
              </a:ln>
              <a:solidFill>
                <a:srgbClr val="002060"/>
              </a:solidFill>
              <a:effectLst/>
              <a:uLnTx/>
              <a:uFillTx/>
              <a:latin typeface="Maiandra GD" panose="020E0502030308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3863752" y="232461"/>
            <a:ext cx="4643470" cy="748267"/>
          </a:xfrm>
          <a:prstGeom prst="rect">
            <a:avLst/>
          </a:prstGeom>
        </p:spPr>
        <p:txBody>
          <a:bodyPr vert="horz" lIns="91440" tIns="45720" rIns="91440" bIns="45720" rtlCol="0" anchor="ctr">
            <a:noAutofit/>
          </a:bodyPr>
          <a:lstStyle/>
          <a:p>
            <a:pPr algn="ctr"/>
            <a:r>
              <a:rPr lang="en-IN" sz="3400" b="1" dirty="0">
                <a:solidFill>
                  <a:srgbClr val="0070C0"/>
                </a:solidFill>
                <a:latin typeface="Maiandra GD" pitchFamily="34" charset="0"/>
              </a:rPr>
              <a:t>Index</a:t>
            </a:r>
          </a:p>
        </p:txBody>
      </p:sp>
      <p:sp>
        <p:nvSpPr>
          <p:cNvPr id="7" name="TextBox 6">
            <a:extLst>
              <a:ext uri="{FF2B5EF4-FFF2-40B4-BE49-F238E27FC236}">
                <a16:creationId xmlns:a16="http://schemas.microsoft.com/office/drawing/2014/main" id="{9C2349D6-78E7-DAAB-A794-F1A12934171A}"/>
              </a:ext>
            </a:extLst>
          </p:cNvPr>
          <p:cNvSpPr txBox="1"/>
          <p:nvPr/>
        </p:nvSpPr>
        <p:spPr>
          <a:xfrm>
            <a:off x="822960" y="1143000"/>
            <a:ext cx="6400800" cy="5120640"/>
          </a:xfrm>
          <a:prstGeom prst="rect">
            <a:avLst/>
          </a:prstGeom>
          <a:noFill/>
        </p:spPr>
        <p:txBody>
          <a:bodyPr wrap="square"/>
          <a:lstStyle/>
          <a:p>
            <a:pPr marL="342900" indent="-342900">
              <a:lnSpc>
                <a:spcPct val="120000"/>
              </a:lnSpc>
              <a:buFont typeface="Wingdings" panose="05000000000000000000" pitchFamily="2" charset="2"/>
              <a:buChar char="ü"/>
            </a:pPr>
            <a:r>
              <a:rPr lang="en-IN" sz="2200" dirty="0">
                <a:latin typeface="Maiandra GD" panose="020E0502030308020204" pitchFamily="34" charset="0"/>
              </a:rPr>
              <a:t>Abstract</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Introduction</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Problem Statement</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Objectives of Project</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Users of the System</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Modules / Functionalities</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Architecture Diagram</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ER Diagram</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C++ OOP Concepts Used (3 slides)</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Planning and Timeline Diagram</a:t>
            </a:r>
          </a:p>
          <a:p>
            <a:pPr marL="342900" indent="-342900">
              <a:lnSpc>
                <a:spcPct val="120000"/>
              </a:lnSpc>
              <a:buFont typeface="Wingdings" panose="05000000000000000000" pitchFamily="2" charset="2"/>
              <a:buChar char="ü"/>
            </a:pPr>
            <a:r>
              <a:rPr lang="en-IN" sz="2200" dirty="0">
                <a:latin typeface="Maiandra GD" panose="020E0502030308020204" pitchFamily="34" charset="0"/>
              </a:rPr>
              <a:t>Role of Each Individual</a:t>
            </a:r>
          </a:p>
        </p:txBody>
      </p:sp>
    </p:spTree>
    <p:extLst>
      <p:ext uri="{BB962C8B-B14F-4D97-AF65-F5344CB8AC3E}">
        <p14:creationId xmlns:p14="http://schemas.microsoft.com/office/powerpoint/2010/main" val="774774707"/>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IN" sz="3400" b="1" dirty="0">
                <a:solidFill>
                  <a:srgbClr val="0070C0"/>
                </a:solidFill>
                <a:latin typeface="Maiandra GD" pitchFamily="34" charset="0"/>
              </a:rPr>
              <a:t>ABSTRACT</a:t>
            </a:r>
          </a:p>
        </p:txBody>
      </p:sp>
      <p:sp>
        <p:nvSpPr>
          <p:cNvPr id="17" name="TextBox 16"/>
          <p:cNvSpPr txBox="1"/>
          <p:nvPr/>
        </p:nvSpPr>
        <p:spPr>
          <a:xfrm>
            <a:off x="548640" y="1188720"/>
            <a:ext cx="7040880" cy="4114800"/>
          </a:xfrm>
          <a:prstGeom prst="rect">
            <a:avLst/>
          </a:prstGeom>
          <a:noFill/>
        </p:spPr>
        <p:txBody>
          <a:bodyPr wrap="square" lIns="45720" tIns="27432" rIns="45720" bIns="27432" anchor="t">
            <a:spAutoFit/>
          </a:bodyPr>
          <a:lstStyle/>
          <a:p>
            <a:pPr algn="l">
              <a:lnSpc>
                <a:spcPct val="110000"/>
              </a:lnSpc>
              <a:spcAft>
                <a:spcPts val="1200"/>
              </a:spcAft>
            </a:pPr>
            <a:r>
              <a:rPr sz="1700" b="0" i="0">
                <a:solidFill>
                  <a:srgbClr val="1F2937"/>
                </a:solidFill>
                <a:latin typeface="Maiandra GD"/>
              </a:rPr>
              <a:t>Salary Enroll Pay System is a payroll application that helps a business pay its workers every month and keep their PF and ESIC details in one place. Instead of doing the same calculations again and again in Excel, the user saves each employee's details only once and then enters the monthly attendance, overtime and advance.</a:t>
            </a:r>
          </a:p>
          <a:p>
            <a:pPr algn="l">
              <a:lnSpc>
                <a:spcPct val="110000"/>
              </a:lnSpc>
              <a:spcAft>
                <a:spcPts val="0"/>
              </a:spcAft>
            </a:pPr>
            <a:r>
              <a:rPr sz="1700" b="0" i="0">
                <a:solidFill>
                  <a:srgbClr val="1F2937"/>
                </a:solidFill>
                <a:latin typeface="Maiandra GD"/>
              </a:rPr>
              <a:t>The calculation part is written in C++ using Object-Oriented Programming. It finds gross salary, deductions, net pay, PF and ESIC contributions and keeps month-wise payroll history. The system also checks for missing UAN or ESIC numbers and creates reports and export files that can be uploaded on the EPFO and ESIC portals.</a:t>
            </a:r>
          </a:p>
        </p:txBody>
      </p:sp>
      <p:sp>
        <p:nvSpPr>
          <p:cNvPr id="18" name="Rounded Rectangle 17"/>
          <p:cNvSpPr/>
          <p:nvPr/>
        </p:nvSpPr>
        <p:spPr>
          <a:xfrm>
            <a:off x="7955279" y="1234440"/>
            <a:ext cx="3657600" cy="11887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092440" y="160020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1</a:t>
            </a:r>
          </a:p>
        </p:txBody>
      </p:sp>
      <p:sp>
        <p:nvSpPr>
          <p:cNvPr id="20" name="TextBox 19"/>
          <p:cNvSpPr txBox="1"/>
          <p:nvPr/>
        </p:nvSpPr>
        <p:spPr>
          <a:xfrm>
            <a:off x="8686800" y="1344168"/>
            <a:ext cx="2834640" cy="1005840"/>
          </a:xfrm>
          <a:prstGeom prst="rect">
            <a:avLst/>
          </a:prstGeom>
          <a:noFill/>
        </p:spPr>
        <p:txBody>
          <a:bodyPr wrap="square" lIns="45720" tIns="27432" rIns="45720" bIns="27432" anchor="ctr">
            <a:spAutoFit/>
          </a:bodyPr>
          <a:lstStyle/>
          <a:p>
            <a:pPr algn="l">
              <a:spcAft>
                <a:spcPts val="0"/>
              </a:spcAft>
            </a:pPr>
            <a:r>
              <a:rPr sz="1600" b="1" i="0">
                <a:solidFill>
                  <a:srgbClr val="0070C0"/>
                </a:solidFill>
                <a:latin typeface="Maiandra GD"/>
              </a:rPr>
              <a:t>Enter once</a:t>
            </a:r>
          </a:p>
          <a:p>
            <a:pPr algn="l">
              <a:spcAft>
                <a:spcPts val="0"/>
              </a:spcAft>
            </a:pPr>
            <a:r>
              <a:rPr sz="1400" b="0" i="0">
                <a:solidFill>
                  <a:srgbClr val="1F2937"/>
                </a:solidFill>
                <a:latin typeface="Maiandra GD"/>
              </a:rPr>
              <a:t>Employee details are saved one time and reused every month.</a:t>
            </a:r>
          </a:p>
        </p:txBody>
      </p:sp>
      <p:sp>
        <p:nvSpPr>
          <p:cNvPr id="21" name="Rounded Rectangle 20"/>
          <p:cNvSpPr/>
          <p:nvPr/>
        </p:nvSpPr>
        <p:spPr>
          <a:xfrm>
            <a:off x="7955279" y="2606040"/>
            <a:ext cx="3657600" cy="11887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92440" y="297180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2</a:t>
            </a:r>
          </a:p>
        </p:txBody>
      </p:sp>
      <p:sp>
        <p:nvSpPr>
          <p:cNvPr id="23" name="TextBox 22"/>
          <p:cNvSpPr txBox="1"/>
          <p:nvPr/>
        </p:nvSpPr>
        <p:spPr>
          <a:xfrm>
            <a:off x="8686800" y="2715768"/>
            <a:ext cx="2834640" cy="1005840"/>
          </a:xfrm>
          <a:prstGeom prst="rect">
            <a:avLst/>
          </a:prstGeom>
          <a:noFill/>
        </p:spPr>
        <p:txBody>
          <a:bodyPr wrap="square" lIns="45720" tIns="27432" rIns="45720" bIns="27432" anchor="ctr">
            <a:spAutoFit/>
          </a:bodyPr>
          <a:lstStyle/>
          <a:p>
            <a:pPr algn="l">
              <a:spcAft>
                <a:spcPts val="0"/>
              </a:spcAft>
            </a:pPr>
            <a:r>
              <a:rPr sz="1600" b="1" i="0">
                <a:solidFill>
                  <a:srgbClr val="0070C0"/>
                </a:solidFill>
                <a:latin typeface="Maiandra GD"/>
              </a:rPr>
              <a:t>Calculate</a:t>
            </a:r>
          </a:p>
          <a:p>
            <a:pPr algn="l">
              <a:spcAft>
                <a:spcPts val="0"/>
              </a:spcAft>
            </a:pPr>
            <a:r>
              <a:rPr sz="1400" b="0" i="0">
                <a:solidFill>
                  <a:srgbClr val="1F2937"/>
                </a:solidFill>
                <a:latin typeface="Maiandra GD"/>
              </a:rPr>
              <a:t>C++ engine finds salary, PF and ESIC contributions.</a:t>
            </a:r>
          </a:p>
        </p:txBody>
      </p:sp>
      <p:sp>
        <p:nvSpPr>
          <p:cNvPr id="24" name="Rounded Rectangle 23"/>
          <p:cNvSpPr/>
          <p:nvPr/>
        </p:nvSpPr>
        <p:spPr>
          <a:xfrm>
            <a:off x="7955279" y="3977639"/>
            <a:ext cx="3657600" cy="11887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092440" y="434340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3</a:t>
            </a:r>
          </a:p>
        </p:txBody>
      </p:sp>
      <p:sp>
        <p:nvSpPr>
          <p:cNvPr id="26" name="TextBox 25"/>
          <p:cNvSpPr txBox="1"/>
          <p:nvPr/>
        </p:nvSpPr>
        <p:spPr>
          <a:xfrm>
            <a:off x="8686800" y="4087368"/>
            <a:ext cx="2834640" cy="1005840"/>
          </a:xfrm>
          <a:prstGeom prst="rect">
            <a:avLst/>
          </a:prstGeom>
          <a:noFill/>
        </p:spPr>
        <p:txBody>
          <a:bodyPr wrap="square" lIns="45720" tIns="27432" rIns="45720" bIns="27432" anchor="ctr">
            <a:spAutoFit/>
          </a:bodyPr>
          <a:lstStyle/>
          <a:p>
            <a:pPr algn="l">
              <a:spcAft>
                <a:spcPts val="0"/>
              </a:spcAft>
            </a:pPr>
            <a:r>
              <a:rPr sz="1600" b="1" i="0">
                <a:solidFill>
                  <a:srgbClr val="0070C0"/>
                </a:solidFill>
                <a:latin typeface="Maiandra GD"/>
              </a:rPr>
              <a:t>Report and export</a:t>
            </a:r>
          </a:p>
          <a:p>
            <a:pPr algn="l">
              <a:spcAft>
                <a:spcPts val="0"/>
              </a:spcAft>
            </a:pPr>
            <a:r>
              <a:rPr sz="1400" b="0" i="0">
                <a:solidFill>
                  <a:srgbClr val="1F2937"/>
                </a:solidFill>
                <a:latin typeface="Maiandra GD"/>
              </a:rPr>
              <a:t>Reports and portal-ready files with error checks.</a:t>
            </a:r>
          </a:p>
        </p:txBody>
      </p:sp>
      <p:sp>
        <p:nvSpPr>
          <p:cNvPr id="27" name="Rounded Rectangle 26"/>
          <p:cNvSpPr/>
          <p:nvPr/>
        </p:nvSpPr>
        <p:spPr>
          <a:xfrm>
            <a:off x="548640" y="5486400"/>
            <a:ext cx="11064240" cy="54864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5486400"/>
            <a:ext cx="10698480" cy="548640"/>
          </a:xfrm>
          <a:prstGeom prst="rect">
            <a:avLst/>
          </a:prstGeom>
          <a:noFill/>
        </p:spPr>
        <p:txBody>
          <a:bodyPr wrap="square" lIns="45720" tIns="27432" rIns="45720" bIns="27432" anchor="ctr">
            <a:spAutoFit/>
          </a:bodyPr>
          <a:lstStyle/>
          <a:p>
            <a:pPr algn="l">
              <a:spcAft>
                <a:spcPts val="0"/>
              </a:spcAft>
            </a:pPr>
            <a:r>
              <a:rPr sz="1600" b="1" i="0">
                <a:solidFill>
                  <a:srgbClr val="FFFFFF"/>
                </a:solidFill>
                <a:latin typeface="Maiandra GD"/>
              </a:rPr>
              <a:t>Keywords:  Payroll  |  PF  |  ESIC  |  C++  |  OOP  |  Validation  |  Reports</a:t>
            </a:r>
          </a:p>
        </p:txBody>
      </p:sp>
    </p:spTree>
    <p:extLst>
      <p:ext uri="{BB962C8B-B14F-4D97-AF65-F5344CB8AC3E}">
        <p14:creationId xmlns:p14="http://schemas.microsoft.com/office/powerpoint/2010/main" val="3956499583"/>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4E1F853-1CAB-1021-66E0-85F76753A5B5}"/>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8E79780E-3638-5D5E-25B9-582B61CFE5E1}"/>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165F2B2E-6E0A-BE19-0975-FC48251AD3D5}"/>
              </a:ext>
            </a:extLst>
          </p:cNvPr>
          <p:cNvSpPr>
            <a:spLocks noGrp="1"/>
          </p:cNvSpPr>
          <p:nvPr>
            <p:ph type="sldNum" sz="quarter" idx="13"/>
          </p:nvPr>
        </p:nvSpPr>
        <p:spPr/>
        <p:txBody>
          <a:bodyPr/>
          <a:lstStyle/>
          <a:p>
            <a:fld id="{326EF2E3-409D-4D76-AD02-397A36B0DAF9}" type="slidenum">
              <a:rPr lang="en-US" smtClean="0"/>
              <a:pPr/>
              <a:t>4</a:t>
            </a:fld>
            <a:endParaRPr lang="en-US"/>
          </a:p>
        </p:txBody>
      </p:sp>
      <p:sp>
        <p:nvSpPr>
          <p:cNvPr id="8" name="Title 1">
            <a:extLst>
              <a:ext uri="{FF2B5EF4-FFF2-40B4-BE49-F238E27FC236}">
                <a16:creationId xmlns:a16="http://schemas.microsoft.com/office/drawing/2014/main" id="{F889F433-AE2C-6F45-7365-F13CF90DB16B}"/>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INTRODUCTION</a:t>
            </a:r>
          </a:p>
        </p:txBody>
      </p:sp>
      <p:sp>
        <p:nvSpPr>
          <p:cNvPr id="9" name="TextBox 8"/>
          <p:cNvSpPr txBox="1"/>
          <p:nvPr/>
        </p:nvSpPr>
        <p:spPr>
          <a:xfrm>
            <a:off x="548640" y="1234440"/>
            <a:ext cx="6949440" cy="4754880"/>
          </a:xfrm>
          <a:prstGeom prst="rect">
            <a:avLst/>
          </a:prstGeom>
          <a:noFill/>
        </p:spPr>
        <p:txBody>
          <a:bodyPr wrap="square" lIns="45720" tIns="27432" rIns="45720" bIns="27432" anchor="t">
            <a:spAutoFit/>
          </a:bodyPr>
          <a:lstStyle/>
          <a:p>
            <a:pPr marL="285750" indent="-285750" algn="l">
              <a:lnSpc>
                <a:spcPct val="105000"/>
              </a:lnSpc>
              <a:spcAft>
                <a:spcPts val="1000"/>
              </a:spcAft>
              <a:buFont typeface="Arial"/>
              <a:buChar char="•"/>
            </a:pPr>
            <a:r>
              <a:rPr sz="1700" b="0" i="0">
                <a:solidFill>
                  <a:srgbClr val="1F2937"/>
                </a:solidFill>
                <a:latin typeface="Maiandra GD"/>
              </a:rPr>
              <a:t>Every business that has workers must pay salary on time and also pay PF and ESIC contributions every month.</a:t>
            </a:r>
          </a:p>
          <a:p>
            <a:pPr marL="285750" indent="-285750" algn="l">
              <a:lnSpc>
                <a:spcPct val="105000"/>
              </a:lnSpc>
              <a:spcAft>
                <a:spcPts val="1000"/>
              </a:spcAft>
              <a:buFont typeface="Arial"/>
              <a:buChar char="•"/>
            </a:pPr>
            <a:r>
              <a:rPr sz="1700" b="0" i="0">
                <a:solidFill>
                  <a:srgbClr val="1F2937"/>
                </a:solidFill>
                <a:latin typeface="Maiandra GD"/>
              </a:rPr>
              <a:t>When there are 100 or 200 workers, doing this by hand or in Excel takes a lot of time and small mistakes happen easily.</a:t>
            </a:r>
          </a:p>
          <a:p>
            <a:pPr marL="285750" indent="-285750" algn="l">
              <a:lnSpc>
                <a:spcPct val="105000"/>
              </a:lnSpc>
              <a:spcAft>
                <a:spcPts val="1000"/>
              </a:spcAft>
              <a:buFont typeface="Arial"/>
              <a:buChar char="•"/>
            </a:pPr>
            <a:r>
              <a:rPr sz="1700" b="0" i="0">
                <a:solidFill>
                  <a:srgbClr val="1F2937"/>
                </a:solidFill>
                <a:latin typeface="Maiandra GD"/>
              </a:rPr>
              <a:t>Salary Enroll Pay System keeps employee details at one place and does the monthly calculation in a fixed, repeatable way.</a:t>
            </a:r>
          </a:p>
          <a:p>
            <a:pPr marL="285750" indent="-285750" algn="l">
              <a:lnSpc>
                <a:spcPct val="105000"/>
              </a:lnSpc>
              <a:spcAft>
                <a:spcPts val="1000"/>
              </a:spcAft>
              <a:buFont typeface="Arial"/>
              <a:buChar char="•"/>
            </a:pPr>
            <a:r>
              <a:rPr sz="1700" b="0" i="0">
                <a:solidFill>
                  <a:srgbClr val="1F2937"/>
                </a:solidFill>
                <a:latin typeface="Maiandra GD"/>
              </a:rPr>
              <a:t>PF and ESIC are calculated separately because they have different wage limits and rules.</a:t>
            </a:r>
          </a:p>
          <a:p>
            <a:pPr marL="285750" indent="-285750" algn="l">
              <a:lnSpc>
                <a:spcPct val="105000"/>
              </a:lnSpc>
              <a:spcAft>
                <a:spcPts val="1000"/>
              </a:spcAft>
              <a:buFont typeface="Arial"/>
              <a:buChar char="•"/>
            </a:pPr>
            <a:r>
              <a:rPr sz="1700" b="0" i="0">
                <a:solidFill>
                  <a:srgbClr val="1F2937"/>
                </a:solidFill>
                <a:latin typeface="Maiandra GD"/>
              </a:rPr>
              <a:t>The main logic is written with C++ classes and objects. The web part (React and Node.js) is only used to enter data and show results.</a:t>
            </a:r>
          </a:p>
        </p:txBody>
      </p:sp>
      <p:sp>
        <p:nvSpPr>
          <p:cNvPr id="10" name="Rounded Rectangle 9"/>
          <p:cNvSpPr/>
          <p:nvPr/>
        </p:nvSpPr>
        <p:spPr>
          <a:xfrm>
            <a:off x="7955279" y="1371600"/>
            <a:ext cx="3657600" cy="1051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92440" y="1417320"/>
            <a:ext cx="3383280" cy="960120"/>
          </a:xfrm>
          <a:prstGeom prst="rect">
            <a:avLst/>
          </a:prstGeom>
          <a:noFill/>
        </p:spPr>
        <p:txBody>
          <a:bodyPr wrap="square" lIns="45720" tIns="27432" rIns="45720" bIns="27432" anchor="ctr">
            <a:spAutoFit/>
          </a:bodyPr>
          <a:lstStyle/>
          <a:p>
            <a:pPr algn="l">
              <a:spcAft>
                <a:spcPts val="0"/>
              </a:spcAft>
            </a:pPr>
            <a:r>
              <a:rPr sz="1700" b="1" i="0">
                <a:solidFill>
                  <a:srgbClr val="0070C0"/>
                </a:solidFill>
                <a:latin typeface="Maiandra GD"/>
              </a:rPr>
              <a:t>Employee and monthly data</a:t>
            </a:r>
          </a:p>
          <a:p>
            <a:pPr algn="l">
              <a:spcAft>
                <a:spcPts val="0"/>
              </a:spcAft>
            </a:pPr>
            <a:r>
              <a:rPr sz="1400" b="0" i="0">
                <a:solidFill>
                  <a:srgbClr val="1F2937"/>
                </a:solidFill>
                <a:latin typeface="Maiandra GD"/>
              </a:rPr>
              <a:t>Details, attendance, OT, advance</a:t>
            </a:r>
          </a:p>
        </p:txBody>
      </p:sp>
      <p:cxnSp>
        <p:nvCxnSpPr>
          <p:cNvPr id="12" name="Connector 11"/>
          <p:cNvCxnSpPr/>
          <p:nvPr/>
        </p:nvCxnSpPr>
        <p:spPr>
          <a:xfrm>
            <a:off x="9784080" y="2423160"/>
            <a:ext cx="0" cy="502920"/>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955279" y="2926080"/>
            <a:ext cx="3657600" cy="105156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2971800"/>
            <a:ext cx="3383280" cy="960120"/>
          </a:xfrm>
          <a:prstGeom prst="rect">
            <a:avLst/>
          </a:prstGeom>
          <a:noFill/>
        </p:spPr>
        <p:txBody>
          <a:bodyPr wrap="square" lIns="45720" tIns="27432" rIns="45720" bIns="27432" anchor="ctr">
            <a:spAutoFit/>
          </a:bodyPr>
          <a:lstStyle/>
          <a:p>
            <a:pPr algn="l">
              <a:spcAft>
                <a:spcPts val="0"/>
              </a:spcAft>
            </a:pPr>
            <a:r>
              <a:rPr sz="1700" b="1" i="0">
                <a:solidFill>
                  <a:srgbClr val="FFFFFF"/>
                </a:solidFill>
                <a:latin typeface="Maiandra GD"/>
              </a:rPr>
              <a:t>C++ OOP engine</a:t>
            </a:r>
          </a:p>
          <a:p>
            <a:pPr algn="l">
              <a:spcAft>
                <a:spcPts val="0"/>
              </a:spcAft>
            </a:pPr>
            <a:r>
              <a:rPr sz="1400" b="0" i="0">
                <a:solidFill>
                  <a:srgbClr val="FFFFFF"/>
                </a:solidFill>
                <a:latin typeface="Maiandra GD"/>
              </a:rPr>
              <a:t>Payroll, PF and ESIC calculation</a:t>
            </a:r>
          </a:p>
        </p:txBody>
      </p:sp>
      <p:cxnSp>
        <p:nvCxnSpPr>
          <p:cNvPr id="15" name="Connector 14"/>
          <p:cNvCxnSpPr/>
          <p:nvPr/>
        </p:nvCxnSpPr>
        <p:spPr>
          <a:xfrm>
            <a:off x="9784080" y="3977639"/>
            <a:ext cx="0" cy="502921"/>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955279" y="4480560"/>
            <a:ext cx="3657600" cy="1051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92440" y="4526280"/>
            <a:ext cx="3383280" cy="960120"/>
          </a:xfrm>
          <a:prstGeom prst="rect">
            <a:avLst/>
          </a:prstGeom>
          <a:noFill/>
        </p:spPr>
        <p:txBody>
          <a:bodyPr wrap="square" lIns="45720" tIns="27432" rIns="45720" bIns="27432" anchor="ctr">
            <a:spAutoFit/>
          </a:bodyPr>
          <a:lstStyle/>
          <a:p>
            <a:pPr algn="l">
              <a:spcAft>
                <a:spcPts val="0"/>
              </a:spcAft>
            </a:pPr>
            <a:r>
              <a:rPr sz="1700" b="1" i="0">
                <a:solidFill>
                  <a:srgbClr val="0070C0"/>
                </a:solidFill>
                <a:latin typeface="Maiandra GD"/>
              </a:rPr>
              <a:t>Output</a:t>
            </a:r>
          </a:p>
          <a:p>
            <a:pPr algn="l">
              <a:spcAft>
                <a:spcPts val="0"/>
              </a:spcAft>
            </a:pPr>
            <a:r>
              <a:rPr sz="1400" b="0" i="0">
                <a:solidFill>
                  <a:srgbClr val="1F2937"/>
                </a:solidFill>
                <a:latin typeface="Maiandra GD"/>
              </a:rPr>
              <a:t>Salary reports, PF and ESIC export files</a:t>
            </a:r>
          </a:p>
        </p:txBody>
      </p:sp>
    </p:spTree>
    <p:extLst>
      <p:ext uri="{BB962C8B-B14F-4D97-AF65-F5344CB8AC3E}">
        <p14:creationId xmlns:p14="http://schemas.microsoft.com/office/powerpoint/2010/main" val="3427467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F993783-C290-7D19-6A1F-470FD93170C2}"/>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CDA96BD2-C714-843B-220F-1987E5360BAB}"/>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0356765A-63B0-B67F-AE20-0A944F050192}"/>
              </a:ext>
            </a:extLst>
          </p:cNvPr>
          <p:cNvSpPr>
            <a:spLocks noGrp="1"/>
          </p:cNvSpPr>
          <p:nvPr>
            <p:ph type="sldNum" sz="quarter" idx="13"/>
          </p:nvPr>
        </p:nvSpPr>
        <p:spPr/>
        <p:txBody>
          <a:bodyPr/>
          <a:lstStyle/>
          <a:p>
            <a:fld id="{326EF2E3-409D-4D76-AD02-397A36B0DAF9}" type="slidenum">
              <a:rPr lang="en-US" smtClean="0"/>
              <a:pPr/>
              <a:t>5</a:t>
            </a:fld>
            <a:endParaRPr lang="en-US"/>
          </a:p>
        </p:txBody>
      </p:sp>
      <p:sp>
        <p:nvSpPr>
          <p:cNvPr id="7" name="Title 1">
            <a:extLst>
              <a:ext uri="{FF2B5EF4-FFF2-40B4-BE49-F238E27FC236}">
                <a16:creationId xmlns:a16="http://schemas.microsoft.com/office/drawing/2014/main" id="{75036E96-E5DD-E40B-11AF-5221FC454C4E}"/>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PROBLEM STATEMENT</a:t>
            </a:r>
          </a:p>
        </p:txBody>
      </p:sp>
      <p:sp>
        <p:nvSpPr>
          <p:cNvPr id="8" name="Rounded Rectangle 7"/>
          <p:cNvSpPr/>
          <p:nvPr/>
        </p:nvSpPr>
        <p:spPr>
          <a:xfrm>
            <a:off x="548640" y="1234440"/>
            <a:ext cx="6766560" cy="80467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1417320"/>
            <a:ext cx="438912" cy="438912"/>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1</a:t>
            </a:r>
          </a:p>
        </p:txBody>
      </p:sp>
      <p:sp>
        <p:nvSpPr>
          <p:cNvPr id="10" name="TextBox 9"/>
          <p:cNvSpPr txBox="1"/>
          <p:nvPr/>
        </p:nvSpPr>
        <p:spPr>
          <a:xfrm>
            <a:off x="1280160" y="1271016"/>
            <a:ext cx="5943600" cy="73152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Same employee details are typed again every month.</a:t>
            </a:r>
          </a:p>
        </p:txBody>
      </p:sp>
      <p:sp>
        <p:nvSpPr>
          <p:cNvPr id="11" name="Rounded Rectangle 10"/>
          <p:cNvSpPr/>
          <p:nvPr/>
        </p:nvSpPr>
        <p:spPr>
          <a:xfrm>
            <a:off x="548640" y="2176272"/>
            <a:ext cx="6766560" cy="80467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85800" y="2359152"/>
            <a:ext cx="438912" cy="438912"/>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2</a:t>
            </a:r>
          </a:p>
        </p:txBody>
      </p:sp>
      <p:sp>
        <p:nvSpPr>
          <p:cNvPr id="13" name="TextBox 12"/>
          <p:cNvSpPr txBox="1"/>
          <p:nvPr/>
        </p:nvSpPr>
        <p:spPr>
          <a:xfrm>
            <a:off x="1280160" y="2212848"/>
            <a:ext cx="5943600" cy="73152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Salary, overtime, advance and deductions are calculated manually.</a:t>
            </a:r>
          </a:p>
        </p:txBody>
      </p:sp>
      <p:sp>
        <p:nvSpPr>
          <p:cNvPr id="14" name="Rounded Rectangle 13"/>
          <p:cNvSpPr/>
          <p:nvPr/>
        </p:nvSpPr>
        <p:spPr>
          <a:xfrm>
            <a:off x="548640" y="3118104"/>
            <a:ext cx="6766560" cy="80467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85800" y="3300984"/>
            <a:ext cx="438912" cy="438912"/>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3</a:t>
            </a:r>
          </a:p>
        </p:txBody>
      </p:sp>
      <p:sp>
        <p:nvSpPr>
          <p:cNvPr id="16" name="TextBox 15"/>
          <p:cNvSpPr txBox="1"/>
          <p:nvPr/>
        </p:nvSpPr>
        <p:spPr>
          <a:xfrm>
            <a:off x="1280160" y="3154680"/>
            <a:ext cx="5943600" cy="73152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PF wage and ESIC wage are different, so one formula does not fit everyone.</a:t>
            </a:r>
          </a:p>
        </p:txBody>
      </p:sp>
      <p:sp>
        <p:nvSpPr>
          <p:cNvPr id="17" name="Rounded Rectangle 16"/>
          <p:cNvSpPr/>
          <p:nvPr/>
        </p:nvSpPr>
        <p:spPr>
          <a:xfrm>
            <a:off x="548640" y="4059935"/>
            <a:ext cx="6766560" cy="80467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 y="4242816"/>
            <a:ext cx="438912" cy="438912"/>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4</a:t>
            </a:r>
          </a:p>
        </p:txBody>
      </p:sp>
      <p:sp>
        <p:nvSpPr>
          <p:cNvPr id="19" name="TextBox 18"/>
          <p:cNvSpPr txBox="1"/>
          <p:nvPr/>
        </p:nvSpPr>
        <p:spPr>
          <a:xfrm>
            <a:off x="1280160" y="4096511"/>
            <a:ext cx="5943600" cy="73152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Missing UAN or ESIC number is found only at the time of upload.</a:t>
            </a:r>
          </a:p>
        </p:txBody>
      </p:sp>
      <p:sp>
        <p:nvSpPr>
          <p:cNvPr id="20" name="Rounded Rectangle 19"/>
          <p:cNvSpPr/>
          <p:nvPr/>
        </p:nvSpPr>
        <p:spPr>
          <a:xfrm>
            <a:off x="548640" y="5001768"/>
            <a:ext cx="6766560" cy="80467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85800" y="5184648"/>
            <a:ext cx="438912" cy="438912"/>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5</a:t>
            </a:r>
          </a:p>
        </p:txBody>
      </p:sp>
      <p:sp>
        <p:nvSpPr>
          <p:cNvPr id="22" name="TextBox 21"/>
          <p:cNvSpPr txBox="1"/>
          <p:nvPr/>
        </p:nvSpPr>
        <p:spPr>
          <a:xfrm>
            <a:off x="1280160" y="5038344"/>
            <a:ext cx="5943600" cy="73152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Old month records get mixed or changed in Excel files.</a:t>
            </a:r>
          </a:p>
        </p:txBody>
      </p:sp>
      <p:sp>
        <p:nvSpPr>
          <p:cNvPr id="23" name="Rounded Rectangle 22"/>
          <p:cNvSpPr/>
          <p:nvPr/>
        </p:nvSpPr>
        <p:spPr>
          <a:xfrm>
            <a:off x="7589520" y="1234440"/>
            <a:ext cx="4023360" cy="457200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18120" y="1417320"/>
            <a:ext cx="3566160" cy="457200"/>
          </a:xfrm>
          <a:prstGeom prst="rect">
            <a:avLst/>
          </a:prstGeom>
          <a:noFill/>
        </p:spPr>
        <p:txBody>
          <a:bodyPr wrap="square" lIns="45720" tIns="27432" rIns="45720" bIns="27432" anchor="t">
            <a:spAutoFit/>
          </a:bodyPr>
          <a:lstStyle/>
          <a:p>
            <a:pPr algn="l">
              <a:spcAft>
                <a:spcPts val="0"/>
              </a:spcAft>
            </a:pPr>
            <a:r>
              <a:rPr sz="1900" b="1" i="0">
                <a:solidFill>
                  <a:srgbClr val="9DC3E6"/>
                </a:solidFill>
                <a:latin typeface="Maiandra GD"/>
              </a:rPr>
              <a:t>Our problem statement</a:t>
            </a:r>
          </a:p>
        </p:txBody>
      </p:sp>
      <p:sp>
        <p:nvSpPr>
          <p:cNvPr id="25" name="TextBox 24"/>
          <p:cNvSpPr txBox="1"/>
          <p:nvPr/>
        </p:nvSpPr>
        <p:spPr>
          <a:xfrm>
            <a:off x="7818120" y="1965960"/>
            <a:ext cx="3566160" cy="3749039"/>
          </a:xfrm>
          <a:prstGeom prst="rect">
            <a:avLst/>
          </a:prstGeom>
          <a:noFill/>
        </p:spPr>
        <p:txBody>
          <a:bodyPr wrap="square" lIns="45720" tIns="27432" rIns="45720" bIns="27432" anchor="t">
            <a:spAutoFit/>
          </a:bodyPr>
          <a:lstStyle/>
          <a:p>
            <a:pPr algn="l">
              <a:lnSpc>
                <a:spcPct val="105000"/>
              </a:lnSpc>
              <a:spcAft>
                <a:spcPts val="0"/>
              </a:spcAft>
            </a:pPr>
            <a:r>
              <a:rPr sz="1600" b="0" i="0">
                <a:solidFill>
                  <a:srgbClr val="FFFFFF"/>
                </a:solidFill>
                <a:latin typeface="Maiandra GD"/>
              </a:rPr>
              <a:t>To develop a web-based Payroll and Statutory Contribution Management System using C++ OOP that keeps employee records at one place, calculates monthly salary, overtime, PF and ESIC, saves payroll history and creates reports and export files, so that repeated manual work is reduced and payroll becomes more accurate.</a:t>
            </a:r>
          </a:p>
        </p:txBody>
      </p:sp>
    </p:spTree>
    <p:extLst>
      <p:ext uri="{BB962C8B-B14F-4D97-AF65-F5344CB8AC3E}">
        <p14:creationId xmlns:p14="http://schemas.microsoft.com/office/powerpoint/2010/main" val="2980536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8DC03B-E94D-200C-182D-CFD61A9C8A7F}"/>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4F39F8EE-133C-2A0C-DA7E-36E12C1995D7}"/>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BFC5F183-FD2D-4F53-B2E2-54707CE8EA0F}"/>
              </a:ext>
            </a:extLst>
          </p:cNvPr>
          <p:cNvSpPr>
            <a:spLocks noGrp="1"/>
          </p:cNvSpPr>
          <p:nvPr>
            <p:ph type="sldNum" sz="quarter" idx="13"/>
          </p:nvPr>
        </p:nvSpPr>
        <p:spPr/>
        <p:txBody>
          <a:bodyPr/>
          <a:lstStyle/>
          <a:p>
            <a:fld id="{326EF2E3-409D-4D76-AD02-397A36B0DAF9}" type="slidenum">
              <a:rPr lang="en-US" smtClean="0"/>
              <a:pPr/>
              <a:t>6</a:t>
            </a:fld>
            <a:endParaRPr lang="en-US"/>
          </a:p>
        </p:txBody>
      </p:sp>
      <p:sp>
        <p:nvSpPr>
          <p:cNvPr id="7" name="Title 1">
            <a:extLst>
              <a:ext uri="{FF2B5EF4-FFF2-40B4-BE49-F238E27FC236}">
                <a16:creationId xmlns:a16="http://schemas.microsoft.com/office/drawing/2014/main" id="{960E0F45-AFC8-653E-BC0E-529706430139}"/>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OBJECTIVES</a:t>
            </a:r>
          </a:p>
        </p:txBody>
      </p:sp>
      <p:sp>
        <p:nvSpPr>
          <p:cNvPr id="8" name="Rounded Rectangle 7"/>
          <p:cNvSpPr/>
          <p:nvPr/>
        </p:nvSpPr>
        <p:spPr>
          <a:xfrm>
            <a:off x="548640" y="1234440"/>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17373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1</a:t>
            </a:r>
          </a:p>
        </p:txBody>
      </p:sp>
      <p:sp>
        <p:nvSpPr>
          <p:cNvPr id="10" name="TextBox 9"/>
          <p:cNvSpPr txBox="1"/>
          <p:nvPr/>
        </p:nvSpPr>
        <p:spPr>
          <a:xfrm>
            <a:off x="1207007" y="1307592"/>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Store all employee details, UAN and ESIC/IP number only once.</a:t>
            </a:r>
          </a:p>
        </p:txBody>
      </p:sp>
      <p:sp>
        <p:nvSpPr>
          <p:cNvPr id="11" name="Rounded Rectangle 10"/>
          <p:cNvSpPr/>
          <p:nvPr/>
        </p:nvSpPr>
        <p:spPr>
          <a:xfrm>
            <a:off x="4334255" y="1234440"/>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71416" y="17373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2</a:t>
            </a:r>
          </a:p>
        </p:txBody>
      </p:sp>
      <p:sp>
        <p:nvSpPr>
          <p:cNvPr id="13" name="TextBox 12"/>
          <p:cNvSpPr txBox="1"/>
          <p:nvPr/>
        </p:nvSpPr>
        <p:spPr>
          <a:xfrm>
            <a:off x="4992623" y="1307592"/>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Enter monthly attendance, OT and advance easily.</a:t>
            </a:r>
          </a:p>
        </p:txBody>
      </p:sp>
      <p:sp>
        <p:nvSpPr>
          <p:cNvPr id="14" name="Rounded Rectangle 13"/>
          <p:cNvSpPr/>
          <p:nvPr/>
        </p:nvSpPr>
        <p:spPr>
          <a:xfrm>
            <a:off x="8119871" y="1234440"/>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57031" y="17373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3</a:t>
            </a:r>
          </a:p>
        </p:txBody>
      </p:sp>
      <p:sp>
        <p:nvSpPr>
          <p:cNvPr id="16" name="TextBox 15"/>
          <p:cNvSpPr txBox="1"/>
          <p:nvPr/>
        </p:nvSpPr>
        <p:spPr>
          <a:xfrm>
            <a:off x="8778240" y="1307592"/>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Calculate gross salary and net pay correctly.</a:t>
            </a:r>
          </a:p>
        </p:txBody>
      </p:sp>
      <p:sp>
        <p:nvSpPr>
          <p:cNvPr id="17" name="Rounded Rectangle 16"/>
          <p:cNvSpPr/>
          <p:nvPr/>
        </p:nvSpPr>
        <p:spPr>
          <a:xfrm>
            <a:off x="548640" y="2852928"/>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 y="3355848"/>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4</a:t>
            </a:r>
          </a:p>
        </p:txBody>
      </p:sp>
      <p:sp>
        <p:nvSpPr>
          <p:cNvPr id="19" name="TextBox 18"/>
          <p:cNvSpPr txBox="1"/>
          <p:nvPr/>
        </p:nvSpPr>
        <p:spPr>
          <a:xfrm>
            <a:off x="1207007" y="2926080"/>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Calculate PF and ESIC separately with their own wage base.</a:t>
            </a:r>
          </a:p>
        </p:txBody>
      </p:sp>
      <p:sp>
        <p:nvSpPr>
          <p:cNvPr id="20" name="Rounded Rectangle 19"/>
          <p:cNvSpPr/>
          <p:nvPr/>
        </p:nvSpPr>
        <p:spPr>
          <a:xfrm>
            <a:off x="4334255" y="2852928"/>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471416" y="3355848"/>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5</a:t>
            </a:r>
          </a:p>
        </p:txBody>
      </p:sp>
      <p:sp>
        <p:nvSpPr>
          <p:cNvPr id="22" name="TextBox 21"/>
          <p:cNvSpPr txBox="1"/>
          <p:nvPr/>
        </p:nvSpPr>
        <p:spPr>
          <a:xfrm>
            <a:off x="4992623" y="2926080"/>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Keep month-wise payroll history safely.</a:t>
            </a:r>
          </a:p>
        </p:txBody>
      </p:sp>
      <p:sp>
        <p:nvSpPr>
          <p:cNvPr id="23" name="Rounded Rectangle 22"/>
          <p:cNvSpPr/>
          <p:nvPr/>
        </p:nvSpPr>
        <p:spPr>
          <a:xfrm>
            <a:off x="8119871" y="2852928"/>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57031" y="3355848"/>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6</a:t>
            </a:r>
          </a:p>
        </p:txBody>
      </p:sp>
      <p:sp>
        <p:nvSpPr>
          <p:cNvPr id="25" name="TextBox 24"/>
          <p:cNvSpPr txBox="1"/>
          <p:nvPr/>
        </p:nvSpPr>
        <p:spPr>
          <a:xfrm>
            <a:off x="8778240" y="2926080"/>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Check wrong or missing data before processing.</a:t>
            </a:r>
          </a:p>
        </p:txBody>
      </p:sp>
      <p:sp>
        <p:nvSpPr>
          <p:cNvPr id="26" name="Rounded Rectangle 25"/>
          <p:cNvSpPr/>
          <p:nvPr/>
        </p:nvSpPr>
        <p:spPr>
          <a:xfrm>
            <a:off x="548640" y="4471416"/>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85800" y="4974336"/>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7</a:t>
            </a:r>
          </a:p>
        </p:txBody>
      </p:sp>
      <p:sp>
        <p:nvSpPr>
          <p:cNvPr id="28" name="TextBox 27"/>
          <p:cNvSpPr txBox="1"/>
          <p:nvPr/>
        </p:nvSpPr>
        <p:spPr>
          <a:xfrm>
            <a:off x="1207007" y="4544568"/>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Create salary, PF and ESIC reports.</a:t>
            </a:r>
          </a:p>
        </p:txBody>
      </p:sp>
      <p:sp>
        <p:nvSpPr>
          <p:cNvPr id="29" name="Rounded Rectangle 28"/>
          <p:cNvSpPr/>
          <p:nvPr/>
        </p:nvSpPr>
        <p:spPr>
          <a:xfrm>
            <a:off x="4334255" y="4471416"/>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471416" y="4974336"/>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8</a:t>
            </a:r>
          </a:p>
        </p:txBody>
      </p:sp>
      <p:sp>
        <p:nvSpPr>
          <p:cNvPr id="31" name="TextBox 30"/>
          <p:cNvSpPr txBox="1"/>
          <p:nvPr/>
        </p:nvSpPr>
        <p:spPr>
          <a:xfrm>
            <a:off x="4992623" y="4544568"/>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Make export files for EPFO and ESIC portals.</a:t>
            </a:r>
          </a:p>
        </p:txBody>
      </p:sp>
      <p:sp>
        <p:nvSpPr>
          <p:cNvPr id="32" name="Rounded Rectangle 31"/>
          <p:cNvSpPr/>
          <p:nvPr/>
        </p:nvSpPr>
        <p:spPr>
          <a:xfrm>
            <a:off x="8119871" y="4471416"/>
            <a:ext cx="3520440" cy="14173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257031" y="4974336"/>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9</a:t>
            </a:r>
          </a:p>
        </p:txBody>
      </p:sp>
      <p:sp>
        <p:nvSpPr>
          <p:cNvPr id="34" name="TextBox 33"/>
          <p:cNvSpPr txBox="1"/>
          <p:nvPr/>
        </p:nvSpPr>
        <p:spPr>
          <a:xfrm>
            <a:off x="8778240" y="4544568"/>
            <a:ext cx="2743200" cy="1280160"/>
          </a:xfrm>
          <a:prstGeom prst="rect">
            <a:avLst/>
          </a:prstGeom>
          <a:noFill/>
        </p:spPr>
        <p:txBody>
          <a:bodyPr wrap="square" lIns="45720" tIns="27432" rIns="45720" bIns="27432" anchor="ctr">
            <a:spAutoFit/>
          </a:bodyPr>
          <a:lstStyle/>
          <a:p>
            <a:pPr algn="l">
              <a:spcAft>
                <a:spcPts val="0"/>
              </a:spcAft>
            </a:pPr>
            <a:r>
              <a:rPr sz="1500" b="0" i="0">
                <a:solidFill>
                  <a:srgbClr val="1F2937"/>
                </a:solidFill>
                <a:latin typeface="Maiandra GD"/>
              </a:rPr>
              <a:t>Show C++ OOP concepts through a real business application.</a:t>
            </a:r>
          </a:p>
        </p:txBody>
      </p:sp>
    </p:spTree>
    <p:extLst>
      <p:ext uri="{BB962C8B-B14F-4D97-AF65-F5344CB8AC3E}">
        <p14:creationId xmlns:p14="http://schemas.microsoft.com/office/powerpoint/2010/main" val="2608614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DA36CF3-5A54-C936-23BB-EF9E9751A587}"/>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9B2A6519-11F0-DD48-9605-1F442F2E3703}"/>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91B63AF8-D7ED-5C40-C271-006D4811B4AE}"/>
              </a:ext>
            </a:extLst>
          </p:cNvPr>
          <p:cNvSpPr>
            <a:spLocks noGrp="1"/>
          </p:cNvSpPr>
          <p:nvPr>
            <p:ph type="sldNum" sz="quarter" idx="13"/>
          </p:nvPr>
        </p:nvSpPr>
        <p:spPr/>
        <p:txBody>
          <a:bodyPr/>
          <a:lstStyle/>
          <a:p>
            <a:fld id="{326EF2E3-409D-4D76-AD02-397A36B0DAF9}" type="slidenum">
              <a:rPr lang="en-US" smtClean="0"/>
              <a:pPr/>
              <a:t>7</a:t>
            </a:fld>
            <a:endParaRPr lang="en-US"/>
          </a:p>
        </p:txBody>
      </p:sp>
      <p:sp>
        <p:nvSpPr>
          <p:cNvPr id="7" name="Title 1">
            <a:extLst>
              <a:ext uri="{FF2B5EF4-FFF2-40B4-BE49-F238E27FC236}">
                <a16:creationId xmlns:a16="http://schemas.microsoft.com/office/drawing/2014/main" id="{989DA84F-9E7F-9FD2-597A-D93D14D0E8AB}"/>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USERS OF THE SYSTEM</a:t>
            </a:r>
          </a:p>
        </p:txBody>
      </p:sp>
      <p:sp>
        <p:nvSpPr>
          <p:cNvPr id="8" name="Rounded Rectangle 7"/>
          <p:cNvSpPr/>
          <p:nvPr/>
        </p:nvSpPr>
        <p:spPr>
          <a:xfrm>
            <a:off x="548640" y="1280160"/>
            <a:ext cx="3520440" cy="338328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97380" y="1508760"/>
            <a:ext cx="822960" cy="8229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Maiandra GD"/>
              </a:rPr>
              <a:t>BO</a:t>
            </a:r>
          </a:p>
        </p:txBody>
      </p:sp>
      <p:sp>
        <p:nvSpPr>
          <p:cNvPr id="10" name="TextBox 9"/>
          <p:cNvSpPr txBox="1"/>
          <p:nvPr/>
        </p:nvSpPr>
        <p:spPr>
          <a:xfrm>
            <a:off x="731520" y="2514600"/>
            <a:ext cx="3154680" cy="457200"/>
          </a:xfrm>
          <a:prstGeom prst="rect">
            <a:avLst/>
          </a:prstGeom>
          <a:noFill/>
        </p:spPr>
        <p:txBody>
          <a:bodyPr wrap="square" lIns="45720" tIns="27432" rIns="45720" bIns="27432" anchor="t">
            <a:spAutoFit/>
          </a:bodyPr>
          <a:lstStyle/>
          <a:p>
            <a:pPr algn="ctr">
              <a:spcAft>
                <a:spcPts val="0"/>
              </a:spcAft>
            </a:pPr>
            <a:r>
              <a:rPr sz="2000" b="1" i="0">
                <a:solidFill>
                  <a:srgbClr val="0070C0"/>
                </a:solidFill>
                <a:latin typeface="Maiandra GD"/>
              </a:rPr>
              <a:t>Business Owner</a:t>
            </a:r>
          </a:p>
        </p:txBody>
      </p:sp>
      <p:sp>
        <p:nvSpPr>
          <p:cNvPr id="11" name="TextBox 10"/>
          <p:cNvSpPr txBox="1"/>
          <p:nvPr/>
        </p:nvSpPr>
        <p:spPr>
          <a:xfrm>
            <a:off x="777240" y="3017520"/>
            <a:ext cx="3063240" cy="1554480"/>
          </a:xfrm>
          <a:prstGeom prst="rect">
            <a:avLst/>
          </a:prstGeom>
          <a:noFill/>
        </p:spPr>
        <p:txBody>
          <a:bodyPr wrap="square" lIns="45720" tIns="27432" rIns="45720" bIns="27432" anchor="t">
            <a:spAutoFit/>
          </a:bodyPr>
          <a:lstStyle/>
          <a:p>
            <a:pPr algn="l">
              <a:lnSpc>
                <a:spcPct val="105000"/>
              </a:lnSpc>
              <a:spcAft>
                <a:spcPts val="0"/>
              </a:spcAft>
            </a:pPr>
            <a:r>
              <a:rPr sz="1500" b="0" i="0">
                <a:solidFill>
                  <a:srgbClr val="1F2937"/>
                </a:solidFill>
                <a:latin typeface="Maiandra GD"/>
              </a:rPr>
              <a:t>Sees total payroll, salary cost and employer contributions, and approves the final payroll.</a:t>
            </a:r>
          </a:p>
        </p:txBody>
      </p:sp>
      <p:sp>
        <p:nvSpPr>
          <p:cNvPr id="12" name="Rounded Rectangle 11"/>
          <p:cNvSpPr/>
          <p:nvPr/>
        </p:nvSpPr>
        <p:spPr>
          <a:xfrm>
            <a:off x="4334255" y="1280160"/>
            <a:ext cx="3520440" cy="338328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682996" y="1508760"/>
            <a:ext cx="822960" cy="8229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Maiandra GD"/>
              </a:rPr>
              <a:t>PS</a:t>
            </a:r>
          </a:p>
        </p:txBody>
      </p:sp>
      <p:sp>
        <p:nvSpPr>
          <p:cNvPr id="14" name="TextBox 13"/>
          <p:cNvSpPr txBox="1"/>
          <p:nvPr/>
        </p:nvSpPr>
        <p:spPr>
          <a:xfrm>
            <a:off x="4517136" y="2514600"/>
            <a:ext cx="3154680" cy="457200"/>
          </a:xfrm>
          <a:prstGeom prst="rect">
            <a:avLst/>
          </a:prstGeom>
          <a:noFill/>
        </p:spPr>
        <p:txBody>
          <a:bodyPr wrap="square" lIns="45720" tIns="27432" rIns="45720" bIns="27432" anchor="t">
            <a:spAutoFit/>
          </a:bodyPr>
          <a:lstStyle/>
          <a:p>
            <a:pPr algn="ctr">
              <a:spcAft>
                <a:spcPts val="0"/>
              </a:spcAft>
            </a:pPr>
            <a:r>
              <a:rPr sz="2000" b="1" i="0">
                <a:solidFill>
                  <a:srgbClr val="0070C0"/>
                </a:solidFill>
                <a:latin typeface="Maiandra GD"/>
              </a:rPr>
              <a:t>Payroll Staff</a:t>
            </a:r>
          </a:p>
        </p:txBody>
      </p:sp>
      <p:sp>
        <p:nvSpPr>
          <p:cNvPr id="15" name="TextBox 14"/>
          <p:cNvSpPr txBox="1"/>
          <p:nvPr/>
        </p:nvSpPr>
        <p:spPr>
          <a:xfrm>
            <a:off x="4562855" y="3017520"/>
            <a:ext cx="3063240" cy="1554480"/>
          </a:xfrm>
          <a:prstGeom prst="rect">
            <a:avLst/>
          </a:prstGeom>
          <a:noFill/>
        </p:spPr>
        <p:txBody>
          <a:bodyPr wrap="square" lIns="45720" tIns="27432" rIns="45720" bIns="27432" anchor="t">
            <a:spAutoFit/>
          </a:bodyPr>
          <a:lstStyle/>
          <a:p>
            <a:pPr algn="l">
              <a:lnSpc>
                <a:spcPct val="105000"/>
              </a:lnSpc>
              <a:spcAft>
                <a:spcPts val="0"/>
              </a:spcAft>
            </a:pPr>
            <a:r>
              <a:rPr sz="1500" b="0" i="0">
                <a:solidFill>
                  <a:srgbClr val="1F2937"/>
                </a:solidFill>
                <a:latin typeface="Maiandra GD"/>
              </a:rPr>
              <a:t>Enters attendance, OT and advances every month, checks calculations and creates reports.</a:t>
            </a:r>
          </a:p>
        </p:txBody>
      </p:sp>
      <p:sp>
        <p:nvSpPr>
          <p:cNvPr id="16" name="Rounded Rectangle 15"/>
          <p:cNvSpPr/>
          <p:nvPr/>
        </p:nvSpPr>
        <p:spPr>
          <a:xfrm>
            <a:off x="8119871" y="1280160"/>
            <a:ext cx="3520440" cy="338328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468611" y="1508760"/>
            <a:ext cx="822960" cy="8229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Maiandra GD"/>
              </a:rPr>
              <a:t>AD</a:t>
            </a:r>
          </a:p>
        </p:txBody>
      </p:sp>
      <p:sp>
        <p:nvSpPr>
          <p:cNvPr id="18" name="TextBox 17"/>
          <p:cNvSpPr txBox="1"/>
          <p:nvPr/>
        </p:nvSpPr>
        <p:spPr>
          <a:xfrm>
            <a:off x="8302751" y="2514600"/>
            <a:ext cx="3154680" cy="457200"/>
          </a:xfrm>
          <a:prstGeom prst="rect">
            <a:avLst/>
          </a:prstGeom>
          <a:noFill/>
        </p:spPr>
        <p:txBody>
          <a:bodyPr wrap="square" lIns="45720" tIns="27432" rIns="45720" bIns="27432" anchor="t">
            <a:spAutoFit/>
          </a:bodyPr>
          <a:lstStyle/>
          <a:p>
            <a:pPr algn="ctr">
              <a:spcAft>
                <a:spcPts val="0"/>
              </a:spcAft>
            </a:pPr>
            <a:r>
              <a:rPr sz="2000" b="1" i="0">
                <a:solidFill>
                  <a:srgbClr val="0070C0"/>
                </a:solidFill>
                <a:latin typeface="Maiandra GD"/>
              </a:rPr>
              <a:t>Administrator</a:t>
            </a:r>
          </a:p>
        </p:txBody>
      </p:sp>
      <p:sp>
        <p:nvSpPr>
          <p:cNvPr id="19" name="TextBox 18"/>
          <p:cNvSpPr txBox="1"/>
          <p:nvPr/>
        </p:nvSpPr>
        <p:spPr>
          <a:xfrm>
            <a:off x="8348471" y="3017520"/>
            <a:ext cx="3063240" cy="1554480"/>
          </a:xfrm>
          <a:prstGeom prst="rect">
            <a:avLst/>
          </a:prstGeom>
          <a:noFill/>
        </p:spPr>
        <p:txBody>
          <a:bodyPr wrap="square" lIns="45720" tIns="27432" rIns="45720" bIns="27432" anchor="t">
            <a:spAutoFit/>
          </a:bodyPr>
          <a:lstStyle/>
          <a:p>
            <a:pPr algn="l">
              <a:lnSpc>
                <a:spcPct val="105000"/>
              </a:lnSpc>
              <a:spcAft>
                <a:spcPts val="0"/>
              </a:spcAft>
            </a:pPr>
            <a:r>
              <a:rPr sz="1500" b="0" i="0">
                <a:solidFill>
                  <a:srgbClr val="1F2937"/>
                </a:solidFill>
                <a:latin typeface="Maiandra GD"/>
              </a:rPr>
              <a:t>Logs in securely, manages employee records and documents, and sets PF and ESIC rules.</a:t>
            </a:r>
          </a:p>
        </p:txBody>
      </p:sp>
      <p:sp>
        <p:nvSpPr>
          <p:cNvPr id="20" name="Rounded Rectangle 19"/>
          <p:cNvSpPr/>
          <p:nvPr/>
        </p:nvSpPr>
        <p:spPr>
          <a:xfrm>
            <a:off x="548640" y="4937760"/>
            <a:ext cx="11064240" cy="8229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937760"/>
            <a:ext cx="10607040" cy="822960"/>
          </a:xfrm>
          <a:prstGeom prst="rect">
            <a:avLst/>
          </a:prstGeom>
          <a:noFill/>
        </p:spPr>
        <p:txBody>
          <a:bodyPr wrap="square" lIns="45720" tIns="27432" rIns="45720" bIns="27432" anchor="ctr">
            <a:spAutoFit/>
          </a:bodyPr>
          <a:lstStyle/>
          <a:p>
            <a:pPr algn="l">
              <a:spcAft>
                <a:spcPts val="0"/>
              </a:spcAft>
            </a:pPr>
            <a:r>
              <a:rPr sz="1600" b="0" i="0">
                <a:solidFill>
                  <a:srgbClr val="1F2937"/>
                </a:solidFill>
                <a:latin typeface="Maiandra GD"/>
              </a:rPr>
              <a:t>In the first version only an administrator login is given. Payroll operator and reviewer roles (maker-checker approval) can be added later.</a:t>
            </a:r>
          </a:p>
        </p:txBody>
      </p:sp>
    </p:spTree>
    <p:extLst>
      <p:ext uri="{BB962C8B-B14F-4D97-AF65-F5344CB8AC3E}">
        <p14:creationId xmlns:p14="http://schemas.microsoft.com/office/powerpoint/2010/main" val="2060758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1B945F-5AAF-1F42-ACB2-A2D6573C3731}"/>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D946E09A-E5CE-F116-8610-5758C55A7A0E}"/>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2B76EFE0-6794-79E2-2F0D-AEEA7170326A}"/>
              </a:ext>
            </a:extLst>
          </p:cNvPr>
          <p:cNvSpPr>
            <a:spLocks noGrp="1"/>
          </p:cNvSpPr>
          <p:nvPr>
            <p:ph type="sldNum" sz="quarter" idx="13"/>
          </p:nvPr>
        </p:nvSpPr>
        <p:spPr/>
        <p:txBody>
          <a:bodyPr/>
          <a:lstStyle/>
          <a:p>
            <a:fld id="{326EF2E3-409D-4D76-AD02-397A36B0DAF9}" type="slidenum">
              <a:rPr lang="en-US" smtClean="0"/>
              <a:pPr/>
              <a:t>8</a:t>
            </a:fld>
            <a:endParaRPr lang="en-US"/>
          </a:p>
        </p:txBody>
      </p:sp>
      <p:sp>
        <p:nvSpPr>
          <p:cNvPr id="7" name="Title 1">
            <a:extLst>
              <a:ext uri="{FF2B5EF4-FFF2-40B4-BE49-F238E27FC236}">
                <a16:creationId xmlns:a16="http://schemas.microsoft.com/office/drawing/2014/main" id="{E66543F0-B6C8-BFC5-3033-3A7882EC3487}"/>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000" b="1" dirty="0">
                <a:solidFill>
                  <a:srgbClr val="0070C0"/>
                </a:solidFill>
                <a:latin typeface="Maiandra GD" pitchFamily="34" charset="0"/>
              </a:rPr>
              <a:t>MODULES / FUNCTIONALITIES</a:t>
            </a:r>
          </a:p>
        </p:txBody>
      </p:sp>
      <p:sp>
        <p:nvSpPr>
          <p:cNvPr id="8" name="Rounded Rectangle 7"/>
          <p:cNvSpPr/>
          <p:nvPr/>
        </p:nvSpPr>
        <p:spPr>
          <a:xfrm>
            <a:off x="548640" y="123444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137160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1</a:t>
            </a:r>
          </a:p>
        </p:txBody>
      </p:sp>
      <p:sp>
        <p:nvSpPr>
          <p:cNvPr id="10" name="TextBox 9"/>
          <p:cNvSpPr txBox="1"/>
          <p:nvPr/>
        </p:nvSpPr>
        <p:spPr>
          <a:xfrm>
            <a:off x="658368" y="1874519"/>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Dashboard</a:t>
            </a:r>
          </a:p>
        </p:txBody>
      </p:sp>
      <p:sp>
        <p:nvSpPr>
          <p:cNvPr id="11" name="TextBox 10"/>
          <p:cNvSpPr txBox="1"/>
          <p:nvPr/>
        </p:nvSpPr>
        <p:spPr>
          <a:xfrm>
            <a:off x="658368" y="233172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Total employees, payroll status, gross and net totals, alerts.</a:t>
            </a:r>
          </a:p>
        </p:txBody>
      </p:sp>
      <p:sp>
        <p:nvSpPr>
          <p:cNvPr id="12" name="Rounded Rectangle 11"/>
          <p:cNvSpPr/>
          <p:nvPr/>
        </p:nvSpPr>
        <p:spPr>
          <a:xfrm>
            <a:off x="3374136" y="123444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11296" y="137160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2</a:t>
            </a:r>
          </a:p>
        </p:txBody>
      </p:sp>
      <p:sp>
        <p:nvSpPr>
          <p:cNvPr id="14" name="TextBox 13"/>
          <p:cNvSpPr txBox="1"/>
          <p:nvPr/>
        </p:nvSpPr>
        <p:spPr>
          <a:xfrm>
            <a:off x="3483864" y="1874519"/>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Employee Master</a:t>
            </a:r>
          </a:p>
        </p:txBody>
      </p:sp>
      <p:sp>
        <p:nvSpPr>
          <p:cNvPr id="15" name="TextBox 14"/>
          <p:cNvSpPr txBox="1"/>
          <p:nvPr/>
        </p:nvSpPr>
        <p:spPr>
          <a:xfrm>
            <a:off x="3483864" y="233172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Add, edit and search employees with UAN, ESIC number and documents.</a:t>
            </a:r>
          </a:p>
        </p:txBody>
      </p:sp>
      <p:sp>
        <p:nvSpPr>
          <p:cNvPr id="16" name="Rounded Rectangle 15"/>
          <p:cNvSpPr/>
          <p:nvPr/>
        </p:nvSpPr>
        <p:spPr>
          <a:xfrm>
            <a:off x="6199631" y="123444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36792" y="137160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3</a:t>
            </a:r>
          </a:p>
        </p:txBody>
      </p:sp>
      <p:sp>
        <p:nvSpPr>
          <p:cNvPr id="18" name="TextBox 17"/>
          <p:cNvSpPr txBox="1"/>
          <p:nvPr/>
        </p:nvSpPr>
        <p:spPr>
          <a:xfrm>
            <a:off x="6309359" y="1874519"/>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Attendance &amp; Wages</a:t>
            </a:r>
          </a:p>
        </p:txBody>
      </p:sp>
      <p:sp>
        <p:nvSpPr>
          <p:cNvPr id="19" name="TextBox 18"/>
          <p:cNvSpPr txBox="1"/>
          <p:nvPr/>
        </p:nvSpPr>
        <p:spPr>
          <a:xfrm>
            <a:off x="6309359" y="233172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Monthly paid days, NCP days, OT, advance and wages.</a:t>
            </a:r>
          </a:p>
        </p:txBody>
      </p:sp>
      <p:sp>
        <p:nvSpPr>
          <p:cNvPr id="20" name="Rounded Rectangle 19"/>
          <p:cNvSpPr/>
          <p:nvPr/>
        </p:nvSpPr>
        <p:spPr>
          <a:xfrm>
            <a:off x="9025128" y="123444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162288" y="137160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4</a:t>
            </a:r>
          </a:p>
        </p:txBody>
      </p:sp>
      <p:sp>
        <p:nvSpPr>
          <p:cNvPr id="22" name="TextBox 21"/>
          <p:cNvSpPr txBox="1"/>
          <p:nvPr/>
        </p:nvSpPr>
        <p:spPr>
          <a:xfrm>
            <a:off x="9134855" y="1874519"/>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Payroll Processing</a:t>
            </a:r>
          </a:p>
        </p:txBody>
      </p:sp>
      <p:sp>
        <p:nvSpPr>
          <p:cNvPr id="23" name="TextBox 22"/>
          <p:cNvSpPr txBox="1"/>
          <p:nvPr/>
        </p:nvSpPr>
        <p:spPr>
          <a:xfrm>
            <a:off x="9134855" y="233172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Gross earnings, deductions and net payable salary.</a:t>
            </a:r>
          </a:p>
        </p:txBody>
      </p:sp>
      <p:sp>
        <p:nvSpPr>
          <p:cNvPr id="24" name="Rounded Rectangle 23"/>
          <p:cNvSpPr/>
          <p:nvPr/>
        </p:nvSpPr>
        <p:spPr>
          <a:xfrm>
            <a:off x="548640" y="365760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85800" y="37947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5</a:t>
            </a:r>
          </a:p>
        </p:txBody>
      </p:sp>
      <p:sp>
        <p:nvSpPr>
          <p:cNvPr id="26" name="TextBox 25"/>
          <p:cNvSpPr txBox="1"/>
          <p:nvPr/>
        </p:nvSpPr>
        <p:spPr>
          <a:xfrm>
            <a:off x="658368" y="4297680"/>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PF Management</a:t>
            </a:r>
          </a:p>
        </p:txBody>
      </p:sp>
      <p:sp>
        <p:nvSpPr>
          <p:cNvPr id="27" name="TextBox 26"/>
          <p:cNvSpPr txBox="1"/>
          <p:nvPr/>
        </p:nvSpPr>
        <p:spPr>
          <a:xfrm>
            <a:off x="658368" y="475488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PF wage, EE, ER, EPS and NCP details.</a:t>
            </a:r>
          </a:p>
        </p:txBody>
      </p:sp>
      <p:sp>
        <p:nvSpPr>
          <p:cNvPr id="28" name="Rounded Rectangle 27"/>
          <p:cNvSpPr/>
          <p:nvPr/>
        </p:nvSpPr>
        <p:spPr>
          <a:xfrm>
            <a:off x="3374136" y="365760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11296" y="37947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6</a:t>
            </a:r>
          </a:p>
        </p:txBody>
      </p:sp>
      <p:sp>
        <p:nvSpPr>
          <p:cNvPr id="30" name="TextBox 29"/>
          <p:cNvSpPr txBox="1"/>
          <p:nvPr/>
        </p:nvSpPr>
        <p:spPr>
          <a:xfrm>
            <a:off x="3483864" y="4297680"/>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ESIC Management</a:t>
            </a:r>
          </a:p>
        </p:txBody>
      </p:sp>
      <p:sp>
        <p:nvSpPr>
          <p:cNvPr id="31" name="TextBox 30"/>
          <p:cNvSpPr txBox="1"/>
          <p:nvPr/>
        </p:nvSpPr>
        <p:spPr>
          <a:xfrm>
            <a:off x="3483864" y="475488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ESIC wage with employee and employer contribution.</a:t>
            </a:r>
          </a:p>
        </p:txBody>
      </p:sp>
      <p:sp>
        <p:nvSpPr>
          <p:cNvPr id="32" name="Rounded Rectangle 31"/>
          <p:cNvSpPr/>
          <p:nvPr/>
        </p:nvSpPr>
        <p:spPr>
          <a:xfrm>
            <a:off x="6199631" y="365760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336792" y="37947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7</a:t>
            </a:r>
          </a:p>
        </p:txBody>
      </p:sp>
      <p:sp>
        <p:nvSpPr>
          <p:cNvPr id="34" name="TextBox 33"/>
          <p:cNvSpPr txBox="1"/>
          <p:nvPr/>
        </p:nvSpPr>
        <p:spPr>
          <a:xfrm>
            <a:off x="6309359" y="4297680"/>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Payroll History</a:t>
            </a:r>
          </a:p>
        </p:txBody>
      </p:sp>
      <p:sp>
        <p:nvSpPr>
          <p:cNvPr id="35" name="TextBox 34"/>
          <p:cNvSpPr txBox="1"/>
          <p:nvPr/>
        </p:nvSpPr>
        <p:spPr>
          <a:xfrm>
            <a:off x="6309359" y="475488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Every month saved separately. Finalized data does not change.</a:t>
            </a:r>
          </a:p>
        </p:txBody>
      </p:sp>
      <p:sp>
        <p:nvSpPr>
          <p:cNvPr id="36" name="Rounded Rectangle 35"/>
          <p:cNvSpPr/>
          <p:nvPr/>
        </p:nvSpPr>
        <p:spPr>
          <a:xfrm>
            <a:off x="9025128" y="3657600"/>
            <a:ext cx="2606040" cy="219456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162288" y="3794760"/>
            <a:ext cx="411480" cy="41148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Maiandra GD"/>
              </a:rPr>
              <a:t>8</a:t>
            </a:r>
          </a:p>
        </p:txBody>
      </p:sp>
      <p:sp>
        <p:nvSpPr>
          <p:cNvPr id="38" name="TextBox 37"/>
          <p:cNvSpPr txBox="1"/>
          <p:nvPr/>
        </p:nvSpPr>
        <p:spPr>
          <a:xfrm>
            <a:off x="9134855" y="4297680"/>
            <a:ext cx="2423160" cy="411480"/>
          </a:xfrm>
          <a:prstGeom prst="rect">
            <a:avLst/>
          </a:prstGeom>
          <a:noFill/>
        </p:spPr>
        <p:txBody>
          <a:bodyPr wrap="square" lIns="45720" tIns="27432" rIns="45720" bIns="27432" anchor="t">
            <a:spAutoFit/>
          </a:bodyPr>
          <a:lstStyle/>
          <a:p>
            <a:pPr algn="l">
              <a:spcAft>
                <a:spcPts val="0"/>
              </a:spcAft>
            </a:pPr>
            <a:r>
              <a:rPr sz="1500" b="1" i="0">
                <a:solidFill>
                  <a:srgbClr val="0070C0"/>
                </a:solidFill>
                <a:latin typeface="Maiandra GD"/>
              </a:rPr>
              <a:t>Reports &amp; Exports</a:t>
            </a:r>
          </a:p>
        </p:txBody>
      </p:sp>
      <p:sp>
        <p:nvSpPr>
          <p:cNvPr id="39" name="TextBox 38"/>
          <p:cNvSpPr txBox="1"/>
          <p:nvPr/>
        </p:nvSpPr>
        <p:spPr>
          <a:xfrm>
            <a:off x="9134855" y="4754880"/>
            <a:ext cx="2377440" cy="105156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Salary, PF, ESIC reports, ECR text file and ESIC Excel.</a:t>
            </a:r>
          </a:p>
        </p:txBody>
      </p:sp>
    </p:spTree>
    <p:extLst>
      <p:ext uri="{BB962C8B-B14F-4D97-AF65-F5344CB8AC3E}">
        <p14:creationId xmlns:p14="http://schemas.microsoft.com/office/powerpoint/2010/main" val="253272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592E31E-79FE-5733-3B4C-5CDF1A3CF219}"/>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928547BD-55A3-BB16-BC99-249218E6BB95}"/>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E5E28CBB-9B93-1856-4974-A0782901C622}"/>
              </a:ext>
            </a:extLst>
          </p:cNvPr>
          <p:cNvSpPr>
            <a:spLocks noGrp="1"/>
          </p:cNvSpPr>
          <p:nvPr>
            <p:ph type="sldNum" sz="quarter" idx="13"/>
          </p:nvPr>
        </p:nvSpPr>
        <p:spPr/>
        <p:txBody>
          <a:bodyPr/>
          <a:lstStyle/>
          <a:p>
            <a:fld id="{326EF2E3-409D-4D76-AD02-397A36B0DAF9}" type="slidenum">
              <a:rPr lang="en-US" smtClean="0"/>
              <a:pPr/>
              <a:t>9</a:t>
            </a:fld>
            <a:endParaRPr lang="en-US"/>
          </a:p>
        </p:txBody>
      </p:sp>
      <p:sp>
        <p:nvSpPr>
          <p:cNvPr id="7" name="Title 1">
            <a:extLst>
              <a:ext uri="{FF2B5EF4-FFF2-40B4-BE49-F238E27FC236}">
                <a16:creationId xmlns:a16="http://schemas.microsoft.com/office/drawing/2014/main" id="{316640B0-65D3-51E2-2A98-B289C0E50200}"/>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IN" sz="3400" b="1" dirty="0">
                <a:solidFill>
                  <a:srgbClr val="0070C0"/>
                </a:solidFill>
                <a:latin typeface="Maiandra GD" pitchFamily="34" charset="0"/>
              </a:rPr>
              <a:t>ARCHITECTURE DIAGRAM</a:t>
            </a:r>
          </a:p>
        </p:txBody>
      </p:sp>
      <p:sp>
        <p:nvSpPr>
          <p:cNvPr id="8" name="Rounded Rectangle 7"/>
          <p:cNvSpPr/>
          <p:nvPr/>
        </p:nvSpPr>
        <p:spPr>
          <a:xfrm>
            <a:off x="548640" y="1280160"/>
            <a:ext cx="2423160" cy="16002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325880"/>
            <a:ext cx="2240280" cy="1508760"/>
          </a:xfrm>
          <a:prstGeom prst="rect">
            <a:avLst/>
          </a:prstGeom>
          <a:noFill/>
        </p:spPr>
        <p:txBody>
          <a:bodyPr wrap="square" lIns="45720" tIns="27432" rIns="45720" bIns="27432" anchor="ctr">
            <a:spAutoFit/>
          </a:bodyPr>
          <a:lstStyle/>
          <a:p>
            <a:pPr algn="l">
              <a:spcAft>
                <a:spcPts val="400"/>
              </a:spcAft>
            </a:pPr>
            <a:r>
              <a:rPr sz="1600" b="1" i="0">
                <a:solidFill>
                  <a:srgbClr val="0070C0"/>
                </a:solidFill>
                <a:latin typeface="Maiandra GD"/>
              </a:rPr>
              <a:t>Admin / Payroll Staff</a:t>
            </a:r>
          </a:p>
          <a:p>
            <a:pPr algn="l">
              <a:spcAft>
                <a:spcPts val="0"/>
              </a:spcAft>
            </a:pPr>
            <a:r>
              <a:rPr sz="1400" b="0" i="0">
                <a:solidFill>
                  <a:srgbClr val="1F2937"/>
                </a:solidFill>
                <a:latin typeface="Maiandra GD"/>
              </a:rPr>
              <a:t>Uses the website in browser</a:t>
            </a:r>
          </a:p>
        </p:txBody>
      </p:sp>
      <p:cxnSp>
        <p:nvCxnSpPr>
          <p:cNvPr id="10" name="Connector 9"/>
          <p:cNvCxnSpPr/>
          <p:nvPr/>
        </p:nvCxnSpPr>
        <p:spPr>
          <a:xfrm>
            <a:off x="2971800" y="2075688"/>
            <a:ext cx="466344" cy="0"/>
          </a:xfrm>
          <a:prstGeom prst="line">
            <a:avLst/>
          </a:prstGeom>
          <a:ln w="31750">
            <a:solidFill>
              <a:srgbClr val="C55A1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38144" y="1280160"/>
            <a:ext cx="2423160" cy="16002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9584" y="1325880"/>
            <a:ext cx="2240280" cy="1508760"/>
          </a:xfrm>
          <a:prstGeom prst="rect">
            <a:avLst/>
          </a:prstGeom>
          <a:noFill/>
        </p:spPr>
        <p:txBody>
          <a:bodyPr wrap="square" lIns="45720" tIns="27432" rIns="45720" bIns="27432" anchor="ctr">
            <a:spAutoFit/>
          </a:bodyPr>
          <a:lstStyle/>
          <a:p>
            <a:pPr algn="l">
              <a:spcAft>
                <a:spcPts val="400"/>
              </a:spcAft>
            </a:pPr>
            <a:r>
              <a:rPr sz="1600" b="1" i="0">
                <a:solidFill>
                  <a:srgbClr val="0070C0"/>
                </a:solidFill>
                <a:latin typeface="Maiandra GD"/>
              </a:rPr>
              <a:t>React Frontend</a:t>
            </a:r>
          </a:p>
          <a:p>
            <a:pPr algn="l">
              <a:spcAft>
                <a:spcPts val="0"/>
              </a:spcAft>
            </a:pPr>
            <a:r>
              <a:rPr sz="1400" b="0" i="0">
                <a:solidFill>
                  <a:srgbClr val="1F2937"/>
                </a:solidFill>
                <a:latin typeface="Maiandra GD"/>
              </a:rPr>
              <a:t>Dashboard, employee forms, payroll tables, reports</a:t>
            </a:r>
          </a:p>
        </p:txBody>
      </p:sp>
      <p:cxnSp>
        <p:nvCxnSpPr>
          <p:cNvPr id="13" name="Connector 12"/>
          <p:cNvCxnSpPr/>
          <p:nvPr/>
        </p:nvCxnSpPr>
        <p:spPr>
          <a:xfrm>
            <a:off x="5861304" y="2075688"/>
            <a:ext cx="466344" cy="0"/>
          </a:xfrm>
          <a:prstGeom prst="line">
            <a:avLst/>
          </a:prstGeom>
          <a:ln w="31750">
            <a:solidFill>
              <a:srgbClr val="C55A1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327648" y="1280160"/>
            <a:ext cx="2423160" cy="16002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1325880"/>
            <a:ext cx="2240280" cy="1508760"/>
          </a:xfrm>
          <a:prstGeom prst="rect">
            <a:avLst/>
          </a:prstGeom>
          <a:noFill/>
        </p:spPr>
        <p:txBody>
          <a:bodyPr wrap="square" lIns="45720" tIns="27432" rIns="45720" bIns="27432" anchor="ctr">
            <a:spAutoFit/>
          </a:bodyPr>
          <a:lstStyle/>
          <a:p>
            <a:pPr algn="l">
              <a:spcAft>
                <a:spcPts val="400"/>
              </a:spcAft>
            </a:pPr>
            <a:r>
              <a:rPr sz="1600" b="1" i="0">
                <a:solidFill>
                  <a:srgbClr val="0070C0"/>
                </a:solidFill>
                <a:latin typeface="Maiandra GD"/>
              </a:rPr>
              <a:t>Node.js + Express Backend</a:t>
            </a:r>
          </a:p>
          <a:p>
            <a:pPr algn="l">
              <a:spcAft>
                <a:spcPts val="0"/>
              </a:spcAft>
            </a:pPr>
            <a:r>
              <a:rPr sz="1400" b="0" i="0">
                <a:solidFill>
                  <a:srgbClr val="1F2937"/>
                </a:solidFill>
                <a:latin typeface="Maiandra GD"/>
              </a:rPr>
              <a:t>Login, validation, API, database and file handling</a:t>
            </a:r>
          </a:p>
        </p:txBody>
      </p:sp>
      <p:cxnSp>
        <p:nvCxnSpPr>
          <p:cNvPr id="16" name="Connector 15"/>
          <p:cNvCxnSpPr/>
          <p:nvPr/>
        </p:nvCxnSpPr>
        <p:spPr>
          <a:xfrm>
            <a:off x="8750808" y="2075688"/>
            <a:ext cx="466344" cy="0"/>
          </a:xfrm>
          <a:prstGeom prst="line">
            <a:avLst/>
          </a:prstGeom>
          <a:ln w="31750">
            <a:solidFill>
              <a:srgbClr val="C55A1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217152" y="1280160"/>
            <a:ext cx="2423160" cy="160020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08592" y="1325880"/>
            <a:ext cx="2240280" cy="1508760"/>
          </a:xfrm>
          <a:prstGeom prst="rect">
            <a:avLst/>
          </a:prstGeom>
          <a:noFill/>
        </p:spPr>
        <p:txBody>
          <a:bodyPr wrap="square" lIns="45720" tIns="27432" rIns="45720" bIns="27432" anchor="ctr">
            <a:spAutoFit/>
          </a:bodyPr>
          <a:lstStyle/>
          <a:p>
            <a:pPr algn="l">
              <a:spcAft>
                <a:spcPts val="400"/>
              </a:spcAft>
            </a:pPr>
            <a:r>
              <a:rPr sz="1600" b="1" i="0">
                <a:solidFill>
                  <a:srgbClr val="FFFFFF"/>
                </a:solidFill>
                <a:latin typeface="Maiandra GD"/>
              </a:rPr>
              <a:t>C++ OOP Engine</a:t>
            </a:r>
          </a:p>
          <a:p>
            <a:pPr algn="l">
              <a:spcAft>
                <a:spcPts val="0"/>
              </a:spcAft>
            </a:pPr>
            <a:r>
              <a:rPr sz="1400" b="0" i="0">
                <a:solidFill>
                  <a:srgbClr val="FFFFFF"/>
                </a:solidFill>
                <a:latin typeface="Maiandra GD"/>
              </a:rPr>
              <a:t>PayrollProcessor, PFCalculator, ESICCalculator, ReportGenerator</a:t>
            </a:r>
          </a:p>
        </p:txBody>
      </p:sp>
      <p:sp>
        <p:nvSpPr>
          <p:cNvPr id="19" name="Rounded Rectangle 18"/>
          <p:cNvSpPr/>
          <p:nvPr/>
        </p:nvSpPr>
        <p:spPr>
          <a:xfrm>
            <a:off x="6327648" y="3749039"/>
            <a:ext cx="2423160" cy="1371600"/>
          </a:xfrm>
          <a:prstGeom prst="roundRect">
            <a:avLst>
              <a:gd name="adj" fmla="val 6000"/>
            </a:avLst>
          </a:prstGeom>
          <a:solidFill>
            <a:srgbClr val="FFF2E5"/>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794760"/>
            <a:ext cx="2240280" cy="1280160"/>
          </a:xfrm>
          <a:prstGeom prst="rect">
            <a:avLst/>
          </a:prstGeom>
          <a:noFill/>
        </p:spPr>
        <p:txBody>
          <a:bodyPr wrap="square" lIns="45720" tIns="27432" rIns="45720" bIns="27432" anchor="ctr">
            <a:spAutoFit/>
          </a:bodyPr>
          <a:lstStyle/>
          <a:p>
            <a:pPr algn="l">
              <a:spcAft>
                <a:spcPts val="400"/>
              </a:spcAft>
            </a:pPr>
            <a:r>
              <a:rPr sz="1600" b="1" i="0">
                <a:solidFill>
                  <a:srgbClr val="C55A11"/>
                </a:solidFill>
                <a:latin typeface="Maiandra GD"/>
              </a:rPr>
              <a:t>MongoDB + Private File Storage</a:t>
            </a:r>
          </a:p>
          <a:p>
            <a:pPr algn="l">
              <a:spcAft>
                <a:spcPts val="0"/>
              </a:spcAft>
            </a:pPr>
            <a:r>
              <a:rPr sz="1400" b="0" i="0">
                <a:solidFill>
                  <a:srgbClr val="1F2937"/>
                </a:solidFill>
                <a:latin typeface="Maiandra GD"/>
              </a:rPr>
              <a:t>Employees, payroll months, documents</a:t>
            </a:r>
          </a:p>
        </p:txBody>
      </p:sp>
      <p:cxnSp>
        <p:nvCxnSpPr>
          <p:cNvPr id="21" name="Connector 20"/>
          <p:cNvCxnSpPr/>
          <p:nvPr/>
        </p:nvCxnSpPr>
        <p:spPr>
          <a:xfrm>
            <a:off x="7539227" y="2880360"/>
            <a:ext cx="0" cy="868679"/>
          </a:xfrm>
          <a:prstGeom prst="line">
            <a:avLst/>
          </a:prstGeom>
          <a:ln w="31750">
            <a:solidFill>
              <a:srgbClr val="C55A1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17152" y="3749039"/>
            <a:ext cx="2423160" cy="1371600"/>
          </a:xfrm>
          <a:prstGeom prst="roundRect">
            <a:avLst>
              <a:gd name="adj" fmla="val 6000"/>
            </a:avLst>
          </a:prstGeom>
          <a:solidFill>
            <a:srgbClr val="E8F5E9"/>
          </a:solidFill>
          <a:ln w="12700">
            <a:solidFill>
              <a:srgbClr val="A5D6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08592" y="3794760"/>
            <a:ext cx="2240280" cy="1280160"/>
          </a:xfrm>
          <a:prstGeom prst="rect">
            <a:avLst/>
          </a:prstGeom>
          <a:noFill/>
        </p:spPr>
        <p:txBody>
          <a:bodyPr wrap="square" lIns="45720" tIns="27432" rIns="45720" bIns="27432" anchor="ctr">
            <a:spAutoFit/>
          </a:bodyPr>
          <a:lstStyle/>
          <a:p>
            <a:pPr algn="l">
              <a:spcAft>
                <a:spcPts val="400"/>
              </a:spcAft>
            </a:pPr>
            <a:r>
              <a:rPr sz="1600" b="1" i="0">
                <a:solidFill>
                  <a:srgbClr val="2E7D32"/>
                </a:solidFill>
                <a:latin typeface="Maiandra GD"/>
              </a:rPr>
              <a:t>Output</a:t>
            </a:r>
          </a:p>
          <a:p>
            <a:pPr algn="l">
              <a:spcAft>
                <a:spcPts val="0"/>
              </a:spcAft>
            </a:pPr>
            <a:r>
              <a:rPr sz="1400" b="0" i="0">
                <a:solidFill>
                  <a:srgbClr val="1F2937"/>
                </a:solidFill>
                <a:latin typeface="Maiandra GD"/>
              </a:rPr>
              <a:t>Salary reports, PF ECR file, ESIC Excel</a:t>
            </a:r>
          </a:p>
        </p:txBody>
      </p:sp>
      <p:cxnSp>
        <p:nvCxnSpPr>
          <p:cNvPr id="24" name="Connector 23"/>
          <p:cNvCxnSpPr/>
          <p:nvPr/>
        </p:nvCxnSpPr>
        <p:spPr>
          <a:xfrm>
            <a:off x="10428732" y="2880360"/>
            <a:ext cx="0" cy="868679"/>
          </a:xfrm>
          <a:prstGeom prst="line">
            <a:avLst/>
          </a:prstGeom>
          <a:ln w="31750">
            <a:solidFill>
              <a:srgbClr val="2E7D32"/>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 y="3749039"/>
            <a:ext cx="5312664" cy="13716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3794760"/>
            <a:ext cx="5029200" cy="1280160"/>
          </a:xfrm>
          <a:prstGeom prst="rect">
            <a:avLst/>
          </a:prstGeom>
          <a:noFill/>
        </p:spPr>
        <p:txBody>
          <a:bodyPr wrap="square" lIns="45720" tIns="27432" rIns="45720" bIns="27432" anchor="ctr">
            <a:spAutoFit/>
          </a:bodyPr>
          <a:lstStyle/>
          <a:p>
            <a:pPr algn="l">
              <a:spcAft>
                <a:spcPts val="400"/>
              </a:spcAft>
            </a:pPr>
            <a:r>
              <a:rPr sz="1600" b="1" i="0">
                <a:solidFill>
                  <a:srgbClr val="0070C0"/>
                </a:solidFill>
                <a:latin typeface="Maiandra GD"/>
              </a:rPr>
              <a:t>Input</a:t>
            </a:r>
          </a:p>
          <a:p>
            <a:pPr algn="l">
              <a:spcAft>
                <a:spcPts val="0"/>
              </a:spcAft>
            </a:pPr>
            <a:r>
              <a:rPr sz="1400" b="0" i="0">
                <a:solidFill>
                  <a:srgbClr val="1F2937"/>
                </a:solidFill>
                <a:latin typeface="Maiandra GD"/>
              </a:rPr>
              <a:t>Employee master data, monthly attendance, wages, OT and advances</a:t>
            </a:r>
          </a:p>
        </p:txBody>
      </p:sp>
      <p:sp>
        <p:nvSpPr>
          <p:cNvPr id="27" name="TextBox 26"/>
          <p:cNvSpPr txBox="1"/>
          <p:nvPr/>
        </p:nvSpPr>
        <p:spPr>
          <a:xfrm>
            <a:off x="548640" y="5394960"/>
            <a:ext cx="11064240" cy="548640"/>
          </a:xfrm>
          <a:prstGeom prst="rect">
            <a:avLst/>
          </a:prstGeom>
          <a:noFill/>
        </p:spPr>
        <p:txBody>
          <a:bodyPr wrap="square" lIns="45720" tIns="27432" rIns="45720" bIns="27432" anchor="t">
            <a:spAutoFit/>
          </a:bodyPr>
          <a:lstStyle/>
          <a:p>
            <a:pPr algn="l">
              <a:spcAft>
                <a:spcPts val="0"/>
              </a:spcAft>
            </a:pPr>
            <a:r>
              <a:rPr sz="1400" b="0" i="1">
                <a:solidFill>
                  <a:srgbClr val="002060"/>
                </a:solidFill>
                <a:latin typeface="Maiandra GD"/>
              </a:rPr>
              <a:t>The backend calls the C++ engine through a fixed interface. Browser input is never run directly as a shell command.</a:t>
            </a:r>
          </a:p>
        </p:txBody>
      </p:sp>
    </p:spTree>
    <p:extLst>
      <p:ext uri="{BB962C8B-B14F-4D97-AF65-F5344CB8AC3E}">
        <p14:creationId xmlns:p14="http://schemas.microsoft.com/office/powerpoint/2010/main" val="299008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24B09F6-96EF-A4BC-2405-03A9796DE44E}"/>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BC5ED1C9-475A-56E0-9BA2-7B6383701DFE}"/>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475884E3-8C54-25E3-273D-FAC0700030F0}"/>
              </a:ext>
            </a:extLst>
          </p:cNvPr>
          <p:cNvSpPr>
            <a:spLocks noGrp="1"/>
          </p:cNvSpPr>
          <p:nvPr>
            <p:ph type="sldNum" sz="quarter" idx="13"/>
          </p:nvPr>
        </p:nvSpPr>
        <p:spPr/>
        <p:txBody>
          <a:bodyPr/>
          <a:lstStyle/>
          <a:p>
            <a:fld id="{326EF2E3-409D-4D76-AD02-397A36B0DAF9}" type="slidenum">
              <a:rPr lang="en-US" smtClean="0"/>
              <a:pPr/>
              <a:t>10</a:t>
            </a:fld>
            <a:endParaRPr lang="en-US"/>
          </a:p>
        </p:txBody>
      </p:sp>
      <p:sp>
        <p:nvSpPr>
          <p:cNvPr id="7" name="Title 1">
            <a:extLst>
              <a:ext uri="{FF2B5EF4-FFF2-40B4-BE49-F238E27FC236}">
                <a16:creationId xmlns:a16="http://schemas.microsoft.com/office/drawing/2014/main" id="{0AA95FCF-4266-1AFF-4AE0-7BF9F2712B41}"/>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ER DIAGRAM</a:t>
            </a:r>
          </a:p>
        </p:txBody>
      </p:sp>
      <p:sp>
        <p:nvSpPr>
          <p:cNvPr id="8" name="Rounded Rectangle 7"/>
          <p:cNvSpPr/>
          <p:nvPr/>
        </p:nvSpPr>
        <p:spPr>
          <a:xfrm>
            <a:off x="4709160" y="1188720"/>
            <a:ext cx="2743200" cy="1975104"/>
          </a:xfrm>
          <a:prstGeom prst="roundRect">
            <a:avLst>
              <a:gd name="adj" fmla="val 3000"/>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709160" y="1188720"/>
            <a:ext cx="2743200" cy="384048"/>
          </a:xfrm>
          <a:prstGeom prst="rect">
            <a:avLst/>
          </a:prstGeom>
          <a:solidFill>
            <a:srgbClr val="0070C0"/>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Maiandra GD"/>
              </a:rPr>
              <a:t>EMPLOYEE</a:t>
            </a:r>
          </a:p>
        </p:txBody>
      </p:sp>
      <p:sp>
        <p:nvSpPr>
          <p:cNvPr id="10" name="TextBox 9"/>
          <p:cNvSpPr txBox="1"/>
          <p:nvPr/>
        </p:nvSpPr>
        <p:spPr>
          <a:xfrm>
            <a:off x="4782312" y="1600200"/>
            <a:ext cx="2596896" cy="1554480"/>
          </a:xfrm>
          <a:prstGeom prst="rect">
            <a:avLst/>
          </a:prstGeom>
          <a:noFill/>
        </p:spPr>
        <p:txBody>
          <a:bodyPr wrap="square" lIns="27432" tIns="27432" rIns="27432" bIns="27432" anchor="t">
            <a:spAutoFit/>
          </a:bodyPr>
          <a:lstStyle/>
          <a:p>
            <a:pPr algn="l">
              <a:spcAft>
                <a:spcPts val="0"/>
              </a:spcAft>
            </a:pPr>
            <a:r>
              <a:rPr sz="1200" b="0" i="0">
                <a:solidFill>
                  <a:srgbClr val="1F2937"/>
                </a:solidFill>
                <a:latin typeface="Maiandra GD"/>
              </a:rPr>
              <a:t>EmpID (PK)</a:t>
            </a:r>
          </a:p>
          <a:p>
            <a:pPr algn="l">
              <a:spcAft>
                <a:spcPts val="0"/>
              </a:spcAft>
            </a:pPr>
            <a:r>
              <a:rPr sz="1200" b="0" i="0">
                <a:solidFill>
                  <a:srgbClr val="1F2937"/>
                </a:solidFill>
                <a:latin typeface="Maiandra GD"/>
              </a:rPr>
              <a:t>Name, Designation</a:t>
            </a:r>
          </a:p>
          <a:p>
            <a:pPr algn="l">
              <a:spcAft>
                <a:spcPts val="0"/>
              </a:spcAft>
            </a:pPr>
            <a:r>
              <a:rPr sz="1200" b="0" i="0">
                <a:solidFill>
                  <a:srgbClr val="1F2937"/>
                </a:solidFill>
                <a:latin typeface="Maiandra GD"/>
              </a:rPr>
              <a:t>Joining date, Exit date</a:t>
            </a:r>
          </a:p>
          <a:p>
            <a:pPr algn="l">
              <a:spcAft>
                <a:spcPts val="0"/>
              </a:spcAft>
            </a:pPr>
            <a:r>
              <a:rPr sz="1200" b="0" i="0">
                <a:solidFill>
                  <a:srgbClr val="1F2937"/>
                </a:solidFill>
                <a:latin typeface="Maiandra GD"/>
              </a:rPr>
              <a:t>UAN</a:t>
            </a:r>
          </a:p>
          <a:p>
            <a:pPr algn="l">
              <a:spcAft>
                <a:spcPts val="0"/>
              </a:spcAft>
            </a:pPr>
            <a:r>
              <a:rPr sz="1200" b="0" i="0">
                <a:solidFill>
                  <a:srgbClr val="1F2937"/>
                </a:solidFill>
                <a:latin typeface="Maiandra GD"/>
              </a:rPr>
              <a:t>ESIC / IP number</a:t>
            </a:r>
          </a:p>
          <a:p>
            <a:pPr algn="l">
              <a:spcAft>
                <a:spcPts val="0"/>
              </a:spcAft>
            </a:pPr>
            <a:r>
              <a:rPr sz="1200" b="0" i="0">
                <a:solidFill>
                  <a:srgbClr val="1F2937"/>
                </a:solidFill>
                <a:latin typeface="Maiandra GD"/>
              </a:rPr>
              <a:t>Status (Active / Left)</a:t>
            </a:r>
          </a:p>
        </p:txBody>
      </p:sp>
      <p:sp>
        <p:nvSpPr>
          <p:cNvPr id="11" name="Rounded Rectangle 10"/>
          <p:cNvSpPr/>
          <p:nvPr/>
        </p:nvSpPr>
        <p:spPr>
          <a:xfrm>
            <a:off x="548640" y="1188720"/>
            <a:ext cx="2743200" cy="1728216"/>
          </a:xfrm>
          <a:prstGeom prst="roundRect">
            <a:avLst>
              <a:gd name="adj" fmla="val 3000"/>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188720"/>
            <a:ext cx="2743200" cy="384048"/>
          </a:xfrm>
          <a:prstGeom prst="rect">
            <a:avLst/>
          </a:prstGeom>
          <a:solidFill>
            <a:srgbClr val="0070C0"/>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Maiandra GD"/>
              </a:rPr>
              <a:t>DOCUMENT</a:t>
            </a:r>
          </a:p>
        </p:txBody>
      </p:sp>
      <p:sp>
        <p:nvSpPr>
          <p:cNvPr id="13" name="TextBox 12"/>
          <p:cNvSpPr txBox="1"/>
          <p:nvPr/>
        </p:nvSpPr>
        <p:spPr>
          <a:xfrm>
            <a:off x="621792" y="1600200"/>
            <a:ext cx="2596896" cy="1307592"/>
          </a:xfrm>
          <a:prstGeom prst="rect">
            <a:avLst/>
          </a:prstGeom>
          <a:noFill/>
        </p:spPr>
        <p:txBody>
          <a:bodyPr wrap="square" lIns="27432" tIns="27432" rIns="27432" bIns="27432" anchor="t">
            <a:spAutoFit/>
          </a:bodyPr>
          <a:lstStyle/>
          <a:p>
            <a:pPr algn="l">
              <a:spcAft>
                <a:spcPts val="0"/>
              </a:spcAft>
            </a:pPr>
            <a:r>
              <a:rPr sz="1200" b="0" i="0">
                <a:solidFill>
                  <a:srgbClr val="1F2937"/>
                </a:solidFill>
                <a:latin typeface="Maiandra GD"/>
              </a:rPr>
              <a:t>DocID (PK)</a:t>
            </a:r>
          </a:p>
          <a:p>
            <a:pPr algn="l">
              <a:spcAft>
                <a:spcPts val="0"/>
              </a:spcAft>
            </a:pPr>
            <a:r>
              <a:rPr sz="1200" b="0" i="0">
                <a:solidFill>
                  <a:srgbClr val="1F2937"/>
                </a:solidFill>
                <a:latin typeface="Maiandra GD"/>
              </a:rPr>
              <a:t>EmpID (FK)</a:t>
            </a:r>
          </a:p>
          <a:p>
            <a:pPr algn="l">
              <a:spcAft>
                <a:spcPts val="0"/>
              </a:spcAft>
            </a:pPr>
            <a:r>
              <a:rPr sz="1200" b="0" i="0">
                <a:solidFill>
                  <a:srgbClr val="1F2937"/>
                </a:solidFill>
                <a:latin typeface="Maiandra GD"/>
              </a:rPr>
              <a:t>Category</a:t>
            </a:r>
          </a:p>
          <a:p>
            <a:pPr algn="l">
              <a:spcAft>
                <a:spcPts val="0"/>
              </a:spcAft>
            </a:pPr>
            <a:r>
              <a:rPr sz="1200" b="0" i="0">
                <a:solidFill>
                  <a:srgbClr val="1F2937"/>
                </a:solidFill>
                <a:latin typeface="Maiandra GD"/>
              </a:rPr>
              <a:t>Upload date</a:t>
            </a:r>
          </a:p>
          <a:p>
            <a:pPr algn="l">
              <a:spcAft>
                <a:spcPts val="0"/>
              </a:spcAft>
            </a:pPr>
            <a:r>
              <a:rPr sz="1200" b="0" i="0">
                <a:solidFill>
                  <a:srgbClr val="1F2937"/>
                </a:solidFill>
                <a:latin typeface="Maiandra GD"/>
              </a:rPr>
              <a:t>File path</a:t>
            </a:r>
          </a:p>
        </p:txBody>
      </p:sp>
      <p:sp>
        <p:nvSpPr>
          <p:cNvPr id="14" name="Rounded Rectangle 13"/>
          <p:cNvSpPr/>
          <p:nvPr/>
        </p:nvSpPr>
        <p:spPr>
          <a:xfrm>
            <a:off x="8869680" y="1188720"/>
            <a:ext cx="2743200" cy="1975104"/>
          </a:xfrm>
          <a:prstGeom prst="roundRect">
            <a:avLst>
              <a:gd name="adj" fmla="val 3000"/>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869680" y="1188720"/>
            <a:ext cx="2743200" cy="384048"/>
          </a:xfrm>
          <a:prstGeom prst="rect">
            <a:avLst/>
          </a:prstGeom>
          <a:solidFill>
            <a:srgbClr val="0070C0"/>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Maiandra GD"/>
              </a:rPr>
              <a:t>ATTENDANCE</a:t>
            </a:r>
          </a:p>
        </p:txBody>
      </p:sp>
      <p:sp>
        <p:nvSpPr>
          <p:cNvPr id="16" name="TextBox 15"/>
          <p:cNvSpPr txBox="1"/>
          <p:nvPr/>
        </p:nvSpPr>
        <p:spPr>
          <a:xfrm>
            <a:off x="8942832" y="1600200"/>
            <a:ext cx="2596896" cy="1554480"/>
          </a:xfrm>
          <a:prstGeom prst="rect">
            <a:avLst/>
          </a:prstGeom>
          <a:noFill/>
        </p:spPr>
        <p:txBody>
          <a:bodyPr wrap="square" lIns="27432" tIns="27432" rIns="27432" bIns="27432" anchor="t">
            <a:spAutoFit/>
          </a:bodyPr>
          <a:lstStyle/>
          <a:p>
            <a:pPr algn="l">
              <a:spcAft>
                <a:spcPts val="0"/>
              </a:spcAft>
            </a:pPr>
            <a:r>
              <a:rPr sz="1200" b="0" i="0">
                <a:solidFill>
                  <a:srgbClr val="1F2937"/>
                </a:solidFill>
                <a:latin typeface="Maiandra GD"/>
              </a:rPr>
              <a:t>AttID (PK)</a:t>
            </a:r>
          </a:p>
          <a:p>
            <a:pPr algn="l">
              <a:spcAft>
                <a:spcPts val="0"/>
              </a:spcAft>
            </a:pPr>
            <a:r>
              <a:rPr sz="1200" b="0" i="0">
                <a:solidFill>
                  <a:srgbClr val="1F2937"/>
                </a:solidFill>
                <a:latin typeface="Maiandra GD"/>
              </a:rPr>
              <a:t>EmpID (FK)</a:t>
            </a:r>
          </a:p>
          <a:p>
            <a:pPr algn="l">
              <a:spcAft>
                <a:spcPts val="0"/>
              </a:spcAft>
            </a:pPr>
            <a:r>
              <a:rPr sz="1200" b="0" i="0">
                <a:solidFill>
                  <a:srgbClr val="1F2937"/>
                </a:solidFill>
                <a:latin typeface="Maiandra GD"/>
              </a:rPr>
              <a:t>Month / Year</a:t>
            </a:r>
          </a:p>
          <a:p>
            <a:pPr algn="l">
              <a:spcAft>
                <a:spcPts val="0"/>
              </a:spcAft>
            </a:pPr>
            <a:r>
              <a:rPr sz="1200" b="0" i="0">
                <a:solidFill>
                  <a:srgbClr val="1F2937"/>
                </a:solidFill>
                <a:latin typeface="Maiandra GD"/>
              </a:rPr>
              <a:t>Paid days, NCP days</a:t>
            </a:r>
          </a:p>
          <a:p>
            <a:pPr algn="l">
              <a:spcAft>
                <a:spcPts val="0"/>
              </a:spcAft>
            </a:pPr>
            <a:r>
              <a:rPr sz="1200" b="0" i="0">
                <a:solidFill>
                  <a:srgbClr val="1F2937"/>
                </a:solidFill>
                <a:latin typeface="Maiandra GD"/>
              </a:rPr>
              <a:t>OT hours, Advance</a:t>
            </a:r>
          </a:p>
          <a:p>
            <a:pPr algn="l">
              <a:spcAft>
                <a:spcPts val="0"/>
              </a:spcAft>
            </a:pPr>
            <a:r>
              <a:rPr sz="1200" b="0" i="0">
                <a:solidFill>
                  <a:srgbClr val="1F2937"/>
                </a:solidFill>
                <a:latin typeface="Maiandra GD"/>
              </a:rPr>
              <a:t>Other deductions</a:t>
            </a:r>
          </a:p>
        </p:txBody>
      </p:sp>
      <p:sp>
        <p:nvSpPr>
          <p:cNvPr id="17" name="Rounded Rectangle 16"/>
          <p:cNvSpPr/>
          <p:nvPr/>
        </p:nvSpPr>
        <p:spPr>
          <a:xfrm>
            <a:off x="548640" y="3840480"/>
            <a:ext cx="2743200" cy="1728216"/>
          </a:xfrm>
          <a:prstGeom prst="roundRect">
            <a:avLst>
              <a:gd name="adj" fmla="val 3000"/>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840480"/>
            <a:ext cx="2743200" cy="384048"/>
          </a:xfrm>
          <a:prstGeom prst="rect">
            <a:avLst/>
          </a:prstGeom>
          <a:solidFill>
            <a:srgbClr val="0070C0"/>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Maiandra GD"/>
              </a:rPr>
              <a:t>PAYROLL PERIOD</a:t>
            </a:r>
          </a:p>
        </p:txBody>
      </p:sp>
      <p:sp>
        <p:nvSpPr>
          <p:cNvPr id="19" name="TextBox 18"/>
          <p:cNvSpPr txBox="1"/>
          <p:nvPr/>
        </p:nvSpPr>
        <p:spPr>
          <a:xfrm>
            <a:off x="621792" y="4251960"/>
            <a:ext cx="2596896" cy="1307592"/>
          </a:xfrm>
          <a:prstGeom prst="rect">
            <a:avLst/>
          </a:prstGeom>
          <a:noFill/>
        </p:spPr>
        <p:txBody>
          <a:bodyPr wrap="square" lIns="27432" tIns="27432" rIns="27432" bIns="27432" anchor="t">
            <a:spAutoFit/>
          </a:bodyPr>
          <a:lstStyle/>
          <a:p>
            <a:pPr algn="l">
              <a:spcAft>
                <a:spcPts val="0"/>
              </a:spcAft>
            </a:pPr>
            <a:r>
              <a:rPr sz="1200" b="0" i="0">
                <a:solidFill>
                  <a:srgbClr val="1F2937"/>
                </a:solidFill>
                <a:latin typeface="Maiandra GD"/>
              </a:rPr>
              <a:t>PeriodID (PK)</a:t>
            </a:r>
          </a:p>
          <a:p>
            <a:pPr algn="l">
              <a:spcAft>
                <a:spcPts val="0"/>
              </a:spcAft>
            </a:pPr>
            <a:r>
              <a:rPr sz="1200" b="0" i="0">
                <a:solidFill>
                  <a:srgbClr val="1F2937"/>
                </a:solidFill>
                <a:latin typeface="Maiandra GD"/>
              </a:rPr>
              <a:t>Month / Year</a:t>
            </a:r>
          </a:p>
          <a:p>
            <a:pPr algn="l">
              <a:spcAft>
                <a:spcPts val="0"/>
              </a:spcAft>
            </a:pPr>
            <a:r>
              <a:rPr sz="1200" b="0" i="0">
                <a:solidFill>
                  <a:srgbClr val="1F2937"/>
                </a:solidFill>
                <a:latin typeface="Maiandra GD"/>
              </a:rPr>
              <a:t>Status (Draft / Final)</a:t>
            </a:r>
          </a:p>
          <a:p>
            <a:pPr algn="l">
              <a:spcAft>
                <a:spcPts val="0"/>
              </a:spcAft>
            </a:pPr>
            <a:r>
              <a:rPr sz="1200" b="0" i="0">
                <a:solidFill>
                  <a:srgbClr val="1F2937"/>
                </a:solidFill>
                <a:latin typeface="Maiandra GD"/>
              </a:rPr>
              <a:t>Rule version</a:t>
            </a:r>
          </a:p>
          <a:p>
            <a:pPr algn="l">
              <a:spcAft>
                <a:spcPts val="0"/>
              </a:spcAft>
            </a:pPr>
            <a:r>
              <a:rPr sz="1200" b="0" i="0">
                <a:solidFill>
                  <a:srgbClr val="1F2937"/>
                </a:solidFill>
                <a:latin typeface="Maiandra GD"/>
              </a:rPr>
              <a:t>Export date, file type</a:t>
            </a:r>
          </a:p>
        </p:txBody>
      </p:sp>
      <p:sp>
        <p:nvSpPr>
          <p:cNvPr id="20" name="Rounded Rectangle 19"/>
          <p:cNvSpPr/>
          <p:nvPr/>
        </p:nvSpPr>
        <p:spPr>
          <a:xfrm>
            <a:off x="4709160" y="3840480"/>
            <a:ext cx="2743200" cy="1975104"/>
          </a:xfrm>
          <a:prstGeom prst="roundRect">
            <a:avLst>
              <a:gd name="adj" fmla="val 3000"/>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09160" y="3840480"/>
            <a:ext cx="2743200" cy="384048"/>
          </a:xfrm>
          <a:prstGeom prst="rect">
            <a:avLst/>
          </a:prstGeom>
          <a:solidFill>
            <a:srgbClr val="0070C0"/>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i="0">
                <a:solidFill>
                  <a:srgbClr val="FFFFFF"/>
                </a:solidFill>
                <a:latin typeface="Maiandra GD"/>
              </a:rPr>
              <a:t>SALARY RECORD</a:t>
            </a:r>
          </a:p>
        </p:txBody>
      </p:sp>
      <p:sp>
        <p:nvSpPr>
          <p:cNvPr id="22" name="TextBox 21"/>
          <p:cNvSpPr txBox="1"/>
          <p:nvPr/>
        </p:nvSpPr>
        <p:spPr>
          <a:xfrm>
            <a:off x="4782312" y="4251960"/>
            <a:ext cx="2596896" cy="1554480"/>
          </a:xfrm>
          <a:prstGeom prst="rect">
            <a:avLst/>
          </a:prstGeom>
          <a:noFill/>
        </p:spPr>
        <p:txBody>
          <a:bodyPr wrap="square" lIns="27432" tIns="27432" rIns="27432" bIns="27432" anchor="t">
            <a:spAutoFit/>
          </a:bodyPr>
          <a:lstStyle/>
          <a:p>
            <a:pPr algn="l">
              <a:spcAft>
                <a:spcPts val="0"/>
              </a:spcAft>
            </a:pPr>
            <a:r>
              <a:rPr sz="1200" b="0" i="0">
                <a:solidFill>
                  <a:srgbClr val="1F2937"/>
                </a:solidFill>
                <a:latin typeface="Maiandra GD"/>
              </a:rPr>
              <a:t>RecID (PK)</a:t>
            </a:r>
          </a:p>
          <a:p>
            <a:pPr algn="l">
              <a:spcAft>
                <a:spcPts val="0"/>
              </a:spcAft>
            </a:pPr>
            <a:r>
              <a:rPr sz="1200" b="0" i="0">
                <a:solidFill>
                  <a:srgbClr val="1F2937"/>
                </a:solidFill>
                <a:latin typeface="Maiandra GD"/>
              </a:rPr>
              <a:t>EmpID (FK), PeriodID (FK)</a:t>
            </a:r>
          </a:p>
          <a:p>
            <a:pPr algn="l">
              <a:spcAft>
                <a:spcPts val="0"/>
              </a:spcAft>
            </a:pPr>
            <a:r>
              <a:rPr sz="1200" b="0" i="0">
                <a:solidFill>
                  <a:srgbClr val="1F2937"/>
                </a:solidFill>
                <a:latin typeface="Maiandra GD"/>
              </a:rPr>
              <a:t>Gross earnings, OT</a:t>
            </a:r>
          </a:p>
          <a:p>
            <a:pPr algn="l">
              <a:spcAft>
                <a:spcPts val="0"/>
              </a:spcAft>
            </a:pPr>
            <a:r>
              <a:rPr sz="1200" b="0" i="0">
                <a:solidFill>
                  <a:srgbClr val="1F2937"/>
                </a:solidFill>
                <a:latin typeface="Maiandra GD"/>
              </a:rPr>
              <a:t>PF wage, ESIC wage</a:t>
            </a:r>
          </a:p>
          <a:p>
            <a:pPr algn="l">
              <a:spcAft>
                <a:spcPts val="0"/>
              </a:spcAft>
            </a:pPr>
            <a:r>
              <a:rPr sz="1200" b="0" i="0">
                <a:solidFill>
                  <a:srgbClr val="1F2937"/>
                </a:solidFill>
                <a:latin typeface="Maiandra GD"/>
              </a:rPr>
              <a:t>PF and ESIC EE / ER</a:t>
            </a:r>
          </a:p>
          <a:p>
            <a:pPr algn="l">
              <a:spcAft>
                <a:spcPts val="0"/>
              </a:spcAft>
            </a:pPr>
            <a:r>
              <a:rPr sz="1200" b="0" i="0">
                <a:solidFill>
                  <a:srgbClr val="1F2937"/>
                </a:solidFill>
                <a:latin typeface="Maiandra GD"/>
              </a:rPr>
              <a:t>Net pay</a:t>
            </a:r>
          </a:p>
        </p:txBody>
      </p:sp>
      <p:cxnSp>
        <p:nvCxnSpPr>
          <p:cNvPr id="23" name="Connector 22"/>
          <p:cNvCxnSpPr/>
          <p:nvPr/>
        </p:nvCxnSpPr>
        <p:spPr>
          <a:xfrm>
            <a:off x="3291840" y="2011680"/>
            <a:ext cx="1417320" cy="0"/>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337560" y="169164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N</a:t>
            </a:r>
          </a:p>
        </p:txBody>
      </p:sp>
      <p:sp>
        <p:nvSpPr>
          <p:cNvPr id="25" name="TextBox 24"/>
          <p:cNvSpPr txBox="1"/>
          <p:nvPr/>
        </p:nvSpPr>
        <p:spPr>
          <a:xfrm>
            <a:off x="4343400" y="169164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1</a:t>
            </a:r>
          </a:p>
        </p:txBody>
      </p:sp>
      <p:cxnSp>
        <p:nvCxnSpPr>
          <p:cNvPr id="26" name="Connector 25"/>
          <p:cNvCxnSpPr/>
          <p:nvPr/>
        </p:nvCxnSpPr>
        <p:spPr>
          <a:xfrm>
            <a:off x="7452360" y="2011680"/>
            <a:ext cx="1417320" cy="0"/>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79" y="169164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1</a:t>
            </a:r>
          </a:p>
        </p:txBody>
      </p:sp>
      <p:sp>
        <p:nvSpPr>
          <p:cNvPr id="28" name="TextBox 27"/>
          <p:cNvSpPr txBox="1"/>
          <p:nvPr/>
        </p:nvSpPr>
        <p:spPr>
          <a:xfrm>
            <a:off x="8503920" y="169164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N</a:t>
            </a:r>
          </a:p>
        </p:txBody>
      </p:sp>
      <p:cxnSp>
        <p:nvCxnSpPr>
          <p:cNvPr id="29" name="Connector 28"/>
          <p:cNvCxnSpPr/>
          <p:nvPr/>
        </p:nvCxnSpPr>
        <p:spPr>
          <a:xfrm>
            <a:off x="6080760" y="3163824"/>
            <a:ext cx="0" cy="676656"/>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26480" y="315468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1</a:t>
            </a:r>
          </a:p>
        </p:txBody>
      </p:sp>
      <p:sp>
        <p:nvSpPr>
          <p:cNvPr id="31" name="TextBox 30"/>
          <p:cNvSpPr txBox="1"/>
          <p:nvPr/>
        </p:nvSpPr>
        <p:spPr>
          <a:xfrm>
            <a:off x="6126480" y="352044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N</a:t>
            </a:r>
          </a:p>
        </p:txBody>
      </p:sp>
      <p:cxnSp>
        <p:nvCxnSpPr>
          <p:cNvPr id="32" name="Connector 31"/>
          <p:cNvCxnSpPr/>
          <p:nvPr/>
        </p:nvCxnSpPr>
        <p:spPr>
          <a:xfrm>
            <a:off x="3291840" y="4846320"/>
            <a:ext cx="1417320" cy="0"/>
          </a:xfrm>
          <a:prstGeom prst="line">
            <a:avLst/>
          </a:prstGeom>
          <a:ln w="25400">
            <a:solidFill>
              <a:srgbClr val="00206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337560" y="452628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1</a:t>
            </a:r>
          </a:p>
        </p:txBody>
      </p:sp>
      <p:sp>
        <p:nvSpPr>
          <p:cNvPr id="34" name="TextBox 33"/>
          <p:cNvSpPr txBox="1"/>
          <p:nvPr/>
        </p:nvSpPr>
        <p:spPr>
          <a:xfrm>
            <a:off x="4343400" y="4526280"/>
            <a:ext cx="365760" cy="274320"/>
          </a:xfrm>
          <a:prstGeom prst="rect">
            <a:avLst/>
          </a:prstGeom>
          <a:noFill/>
        </p:spPr>
        <p:txBody>
          <a:bodyPr wrap="square" lIns="0" tIns="27432" rIns="0" bIns="27432" anchor="t">
            <a:spAutoFit/>
          </a:bodyPr>
          <a:lstStyle/>
          <a:p>
            <a:pPr algn="ctr">
              <a:spcAft>
                <a:spcPts val="0"/>
              </a:spcAft>
            </a:pPr>
            <a:r>
              <a:rPr sz="1300" b="1" i="0">
                <a:solidFill>
                  <a:srgbClr val="C55A11"/>
                </a:solidFill>
                <a:latin typeface="Maiandra GD"/>
              </a:rPr>
              <a:t>N</a:t>
            </a:r>
          </a:p>
        </p:txBody>
      </p:sp>
      <p:sp>
        <p:nvSpPr>
          <p:cNvPr id="35" name="Rounded Rectangle 34"/>
          <p:cNvSpPr/>
          <p:nvPr/>
        </p:nvSpPr>
        <p:spPr>
          <a:xfrm>
            <a:off x="8869680" y="3840480"/>
            <a:ext cx="2743200" cy="18288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06840" y="3913632"/>
            <a:ext cx="2514600" cy="1737360"/>
          </a:xfrm>
          <a:prstGeom prst="rect">
            <a:avLst/>
          </a:prstGeom>
          <a:noFill/>
        </p:spPr>
        <p:txBody>
          <a:bodyPr wrap="square" lIns="45720" tIns="27432" rIns="45720" bIns="27432" anchor="t">
            <a:spAutoFit/>
          </a:bodyPr>
          <a:lstStyle/>
          <a:p>
            <a:pPr algn="l">
              <a:spcAft>
                <a:spcPts val="400"/>
              </a:spcAft>
            </a:pPr>
            <a:r>
              <a:rPr sz="1400" b="1" i="0">
                <a:solidFill>
                  <a:srgbClr val="0070C0"/>
                </a:solidFill>
                <a:latin typeface="Maiandra GD"/>
              </a:rPr>
              <a:t>How to read</a:t>
            </a:r>
          </a:p>
          <a:p>
            <a:pPr algn="l">
              <a:spcAft>
                <a:spcPts val="0"/>
              </a:spcAft>
            </a:pPr>
            <a:r>
              <a:rPr sz="1300" b="0" i="0">
                <a:solidFill>
                  <a:srgbClr val="1F2937"/>
                </a:solidFill>
                <a:latin typeface="Maiandra GD"/>
              </a:rPr>
              <a:t>PK = primary key</a:t>
            </a:r>
          </a:p>
          <a:p>
            <a:pPr algn="l">
              <a:spcAft>
                <a:spcPts val="0"/>
              </a:spcAft>
            </a:pPr>
            <a:r>
              <a:rPr sz="1300" b="0" i="0">
                <a:solidFill>
                  <a:srgbClr val="1F2937"/>
                </a:solidFill>
                <a:latin typeface="Maiandra GD"/>
              </a:rPr>
              <a:t>FK = foreign key</a:t>
            </a:r>
          </a:p>
          <a:p>
            <a:pPr algn="l">
              <a:spcAft>
                <a:spcPts val="0"/>
              </a:spcAft>
            </a:pPr>
            <a:r>
              <a:rPr sz="1300" b="0" i="0">
                <a:solidFill>
                  <a:srgbClr val="1F2937"/>
                </a:solidFill>
                <a:latin typeface="Maiandra GD"/>
              </a:rPr>
              <a:t>1 to N = one employee has many records, one month has many salary records.</a:t>
            </a:r>
          </a:p>
        </p:txBody>
      </p:sp>
    </p:spTree>
    <p:extLst>
      <p:ext uri="{BB962C8B-B14F-4D97-AF65-F5344CB8AC3E}">
        <p14:creationId xmlns:p14="http://schemas.microsoft.com/office/powerpoint/2010/main" val="126388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8DC03B-E94D-200C-182D-CFD61A9C8A7F}"/>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4F39F8EE-133C-2A0C-DA7E-36E12C1995D7}"/>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BFC5F183-FD2D-4F53-B2E2-54707CE8EA0F}"/>
              </a:ext>
            </a:extLst>
          </p:cNvPr>
          <p:cNvSpPr>
            <a:spLocks noGrp="1"/>
          </p:cNvSpPr>
          <p:nvPr>
            <p:ph type="sldNum" sz="quarter" idx="13"/>
          </p:nvPr>
        </p:nvSpPr>
        <p:spPr/>
        <p:txBody>
          <a:bodyPr/>
          <a:lstStyle/>
          <a:p>
            <a:fld id="{326EF2E3-409D-4D76-AD02-397A36B0DAF9}" type="slidenum">
              <a:rPr lang="en-US" smtClean="0"/>
              <a:pPr/>
              <a:t>11</a:t>
            </a:fld>
            <a:endParaRPr lang="en-US"/>
          </a:p>
        </p:txBody>
      </p:sp>
      <p:sp>
        <p:nvSpPr>
          <p:cNvPr id="7" name="Title 1">
            <a:extLst>
              <a:ext uri="{FF2B5EF4-FFF2-40B4-BE49-F238E27FC236}">
                <a16:creationId xmlns:a16="http://schemas.microsoft.com/office/drawing/2014/main" id="{960E0F45-AFC8-653E-BC0E-529706430139}"/>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C++ OOP CONCEPTS (1/3)</a:t>
            </a:r>
          </a:p>
        </p:txBody>
      </p:sp>
      <p:sp>
        <p:nvSpPr>
          <p:cNvPr id="8" name="Rounded Rectangle 7"/>
          <p:cNvSpPr/>
          <p:nvPr/>
        </p:nvSpPr>
        <p:spPr>
          <a:xfrm>
            <a:off x="548640" y="1188720"/>
            <a:ext cx="5760720" cy="14630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225296"/>
            <a:ext cx="5486400" cy="138988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1. Classes and Objects</a:t>
            </a:r>
          </a:p>
          <a:p>
            <a:pPr algn="l">
              <a:spcAft>
                <a:spcPts val="0"/>
              </a:spcAft>
            </a:pPr>
            <a:r>
              <a:rPr sz="1400" b="0" i="0">
                <a:solidFill>
                  <a:srgbClr val="1F2937"/>
                </a:solidFill>
                <a:latin typeface="Maiandra GD"/>
              </a:rPr>
              <a:t>Employee, Attendance, SalaryRecord, PayrollProcessor, PFCalculator, ESICCalculator and ReportGenerator are separate classes. Each employee's monthly record becomes an object.</a:t>
            </a:r>
          </a:p>
        </p:txBody>
      </p:sp>
      <p:sp>
        <p:nvSpPr>
          <p:cNvPr id="10" name="Rounded Rectangle 9"/>
          <p:cNvSpPr/>
          <p:nvPr/>
        </p:nvSpPr>
        <p:spPr>
          <a:xfrm>
            <a:off x="548640" y="2788920"/>
            <a:ext cx="5760720" cy="14630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825496"/>
            <a:ext cx="5486400" cy="138988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2. Encapsulation</a:t>
            </a:r>
          </a:p>
          <a:p>
            <a:pPr algn="l">
              <a:spcAft>
                <a:spcPts val="0"/>
              </a:spcAft>
            </a:pPr>
            <a:r>
              <a:rPr sz="1400" b="0" i="0">
                <a:solidFill>
                  <a:srgbClr val="1F2937"/>
                </a:solidFill>
                <a:latin typeface="Maiandra GD"/>
              </a:rPr>
              <a:t>Wages, UAN and ESIC number are kept private. They can be changed only through setter functions, which reject wrong values like negative wages.</a:t>
            </a:r>
          </a:p>
        </p:txBody>
      </p:sp>
      <p:sp>
        <p:nvSpPr>
          <p:cNvPr id="12" name="Rounded Rectangle 11"/>
          <p:cNvSpPr/>
          <p:nvPr/>
        </p:nvSpPr>
        <p:spPr>
          <a:xfrm>
            <a:off x="548640" y="4389120"/>
            <a:ext cx="5760720" cy="14630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425696"/>
            <a:ext cx="5486400" cy="138988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3. Abstraction</a:t>
            </a:r>
          </a:p>
          <a:p>
            <a:pPr algn="l">
              <a:spcAft>
                <a:spcPts val="0"/>
              </a:spcAft>
            </a:pPr>
            <a:r>
              <a:rPr sz="1400" b="0" i="0">
                <a:solidFill>
                  <a:srgbClr val="1F2937"/>
                </a:solidFill>
                <a:latin typeface="Maiandra GD"/>
              </a:rPr>
              <a:t>The backend only asks the engine to process payroll. It does not need to know how the PF or ESIC formulas work inside.</a:t>
            </a:r>
          </a:p>
        </p:txBody>
      </p:sp>
      <p:sp>
        <p:nvSpPr>
          <p:cNvPr id="14" name="Rounded Rectangle 13"/>
          <p:cNvSpPr/>
          <p:nvPr/>
        </p:nvSpPr>
        <p:spPr>
          <a:xfrm>
            <a:off x="6583680" y="1188720"/>
            <a:ext cx="5029200" cy="4663440"/>
          </a:xfrm>
          <a:prstGeom prst="roundRect">
            <a:avLst>
              <a:gd name="adj" fmla="val 3000"/>
            </a:avLst>
          </a:prstGeom>
          <a:solidFill>
            <a:srgbClr val="0B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0" y="1261872"/>
            <a:ext cx="4663440" cy="365760"/>
          </a:xfrm>
          <a:prstGeom prst="rect">
            <a:avLst/>
          </a:prstGeom>
          <a:noFill/>
        </p:spPr>
        <p:txBody>
          <a:bodyPr wrap="square" lIns="45720" tIns="27432" rIns="45720" bIns="27432" anchor="t">
            <a:spAutoFit/>
          </a:bodyPr>
          <a:lstStyle/>
          <a:p>
            <a:pPr algn="l">
              <a:spcAft>
                <a:spcPts val="0"/>
              </a:spcAft>
            </a:pPr>
            <a:r>
              <a:rPr sz="1200" b="1" i="0">
                <a:solidFill>
                  <a:srgbClr val="9DC3E6"/>
                </a:solidFill>
                <a:latin typeface="Maiandra GD"/>
              </a:rPr>
              <a:t>Encapsulation example</a:t>
            </a:r>
          </a:p>
        </p:txBody>
      </p:sp>
      <p:sp>
        <p:nvSpPr>
          <p:cNvPr id="16" name="TextBox 15"/>
          <p:cNvSpPr txBox="1"/>
          <p:nvPr/>
        </p:nvSpPr>
        <p:spPr>
          <a:xfrm>
            <a:off x="6766560" y="1645920"/>
            <a:ext cx="4709160" cy="4114800"/>
          </a:xfrm>
          <a:prstGeom prst="rect">
            <a:avLst/>
          </a:prstGeom>
          <a:noFill/>
        </p:spPr>
        <p:txBody>
          <a:bodyPr wrap="square" lIns="18288" tIns="27432" rIns="18288" bIns="27432" anchor="t">
            <a:spAutoFit/>
          </a:bodyPr>
          <a:lstStyle/>
          <a:p>
            <a:pPr algn="l">
              <a:spcAft>
                <a:spcPts val="0"/>
              </a:spcAft>
            </a:pPr>
            <a:r>
              <a:rPr sz="1200" b="0" i="0">
                <a:solidFill>
                  <a:srgbClr val="E6EDF7"/>
                </a:solidFill>
                <a:latin typeface="Courier New"/>
              </a:rPr>
              <a:t>class SalaryRecord {</a:t>
            </a:r>
          </a:p>
          <a:p>
            <a:pPr algn="l">
              <a:spcAft>
                <a:spcPts val="0"/>
              </a:spcAft>
            </a:pPr>
            <a:r>
              <a:rPr sz="1200" b="0" i="0">
                <a:solidFill>
                  <a:srgbClr val="E6EDF7"/>
                </a:solidFill>
                <a:latin typeface="Courier New"/>
              </a:rPr>
              <a:t>private:</a:t>
            </a:r>
          </a:p>
          <a:p>
            <a:pPr algn="l">
              <a:spcAft>
                <a:spcPts val="0"/>
              </a:spcAft>
            </a:pPr>
            <a:r>
              <a:rPr sz="1200" b="0" i="0">
                <a:solidFill>
                  <a:srgbClr val="E6EDF7"/>
                </a:solidFill>
                <a:latin typeface="Courier New"/>
              </a:rPr>
              <a:t>    double basicWage;</a:t>
            </a:r>
          </a:p>
          <a:p>
            <a:pPr algn="l">
              <a:spcAft>
                <a:spcPts val="0"/>
              </a:spcAft>
            </a:pPr>
            <a:r>
              <a:rPr sz="1200" b="0" i="0">
                <a:solidFill>
                  <a:srgbClr val="E6EDF7"/>
                </a:solidFill>
                <a:latin typeface="Courier New"/>
              </a:rPr>
              <a:t>    double otAmount;</a:t>
            </a:r>
          </a:p>
          <a:p>
            <a:pPr algn="l">
              <a:spcAft>
                <a:spcPts val="0"/>
              </a:spcAft>
            </a:pPr>
            <a:r>
              <a:rPr sz="1200" b="0" i="0">
                <a:solidFill>
                  <a:srgbClr val="E6EDF7"/>
                </a:solidFill>
                <a:latin typeface="Courier New"/>
              </a:rPr>
              <a:t>public:</a:t>
            </a:r>
          </a:p>
          <a:p>
            <a:pPr algn="l">
              <a:spcAft>
                <a:spcPts val="0"/>
              </a:spcAft>
            </a:pPr>
            <a:r>
              <a:rPr sz="1200" b="0" i="0">
                <a:solidFill>
                  <a:srgbClr val="E6EDF7"/>
                </a:solidFill>
                <a:latin typeface="Courier New"/>
              </a:rPr>
              <a:t>    void setBasicWage(double w) {</a:t>
            </a:r>
          </a:p>
          <a:p>
            <a:pPr algn="l">
              <a:spcAft>
                <a:spcPts val="0"/>
              </a:spcAft>
            </a:pPr>
            <a:r>
              <a:rPr sz="1200" b="0" i="0">
                <a:solidFill>
                  <a:srgbClr val="E6EDF7"/>
                </a:solidFill>
                <a:latin typeface="Courier New"/>
              </a:rPr>
              <a:t>        if (w &lt; 0)</a:t>
            </a:r>
          </a:p>
          <a:p>
            <a:pPr algn="l">
              <a:spcAft>
                <a:spcPts val="0"/>
              </a:spcAft>
            </a:pPr>
            <a:r>
              <a:rPr sz="1200" b="0" i="0">
                <a:solidFill>
                  <a:srgbClr val="E6EDF7"/>
                </a:solidFill>
                <a:latin typeface="Courier New"/>
              </a:rPr>
              <a:t>            throw invalid_argument(</a:t>
            </a:r>
          </a:p>
          <a:p>
            <a:pPr algn="l">
              <a:spcAft>
                <a:spcPts val="0"/>
              </a:spcAft>
            </a:pPr>
            <a:r>
              <a:rPr sz="1200" b="0" i="0">
                <a:solidFill>
                  <a:srgbClr val="E6EDF7"/>
                </a:solidFill>
                <a:latin typeface="Courier New"/>
              </a:rPr>
              <a:t>              "Wage cannot be negative");</a:t>
            </a:r>
          </a:p>
          <a:p>
            <a:pPr algn="l">
              <a:spcAft>
                <a:spcPts val="0"/>
              </a:spcAft>
            </a:pPr>
            <a:r>
              <a:rPr sz="1200" b="0" i="0">
                <a:solidFill>
                  <a:srgbClr val="E6EDF7"/>
                </a:solidFill>
                <a:latin typeface="Courier New"/>
              </a:rPr>
              <a:t>        basicWage = w;</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    double getBasicWage() const {</a:t>
            </a:r>
          </a:p>
          <a:p>
            <a:pPr algn="l">
              <a:spcAft>
                <a:spcPts val="0"/>
              </a:spcAft>
            </a:pPr>
            <a:r>
              <a:rPr sz="1200" b="0" i="0">
                <a:solidFill>
                  <a:srgbClr val="E6EDF7"/>
                </a:solidFill>
                <a:latin typeface="Courier New"/>
              </a:rPr>
              <a:t>        return basicWage;</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a:t>
            </a:r>
          </a:p>
        </p:txBody>
      </p:sp>
    </p:spTree>
    <p:extLst>
      <p:ext uri="{BB962C8B-B14F-4D97-AF65-F5344CB8AC3E}">
        <p14:creationId xmlns:p14="http://schemas.microsoft.com/office/powerpoint/2010/main" val="2608614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8DC03B-E94D-200C-182D-CFD61A9C8A7F}"/>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4F39F8EE-133C-2A0C-DA7E-36E12C1995D7}"/>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BFC5F183-FD2D-4F53-B2E2-54707CE8EA0F}"/>
              </a:ext>
            </a:extLst>
          </p:cNvPr>
          <p:cNvSpPr>
            <a:spLocks noGrp="1"/>
          </p:cNvSpPr>
          <p:nvPr>
            <p:ph type="sldNum" sz="quarter" idx="13"/>
          </p:nvPr>
        </p:nvSpPr>
        <p:spPr/>
        <p:txBody>
          <a:bodyPr/>
          <a:lstStyle/>
          <a:p>
            <a:fld id="{326EF2E3-409D-4D76-AD02-397A36B0DAF9}" type="slidenum">
              <a:rPr lang="en-US" smtClean="0"/>
              <a:pPr/>
              <a:t>12</a:t>
            </a:fld>
            <a:endParaRPr lang="en-US"/>
          </a:p>
        </p:txBody>
      </p:sp>
      <p:sp>
        <p:nvSpPr>
          <p:cNvPr id="7" name="Title 1">
            <a:extLst>
              <a:ext uri="{FF2B5EF4-FFF2-40B4-BE49-F238E27FC236}">
                <a16:creationId xmlns:a16="http://schemas.microsoft.com/office/drawing/2014/main" id="{960E0F45-AFC8-653E-BC0E-529706430139}"/>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C++ OOP CONCEPTS (2/3)</a:t>
            </a:r>
          </a:p>
        </p:txBody>
      </p:sp>
      <p:sp>
        <p:nvSpPr>
          <p:cNvPr id="8" name="Rounded Rectangle 7"/>
          <p:cNvSpPr/>
          <p:nvPr/>
        </p:nvSpPr>
        <p:spPr>
          <a:xfrm>
            <a:off x="548640" y="1188720"/>
            <a:ext cx="5760720" cy="107899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225296"/>
            <a:ext cx="5486400" cy="1005839"/>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4. Inheritance</a:t>
            </a:r>
          </a:p>
          <a:p>
            <a:pPr algn="l">
              <a:spcAft>
                <a:spcPts val="0"/>
              </a:spcAft>
            </a:pPr>
            <a:r>
              <a:rPr sz="1400" b="0" i="0">
                <a:solidFill>
                  <a:srgbClr val="1F2937"/>
                </a:solidFill>
                <a:latin typeface="Maiandra GD"/>
              </a:rPr>
              <a:t>PFCalculator and ESICCalculator both inherit from one base class Calculator, so common code is written only once.</a:t>
            </a:r>
          </a:p>
        </p:txBody>
      </p:sp>
      <p:sp>
        <p:nvSpPr>
          <p:cNvPr id="10" name="Rounded Rectangle 9"/>
          <p:cNvSpPr/>
          <p:nvPr/>
        </p:nvSpPr>
        <p:spPr>
          <a:xfrm>
            <a:off x="548640" y="2377439"/>
            <a:ext cx="5760720" cy="107899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14015"/>
            <a:ext cx="5486400" cy="1005839"/>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5. Polymorphism</a:t>
            </a:r>
          </a:p>
          <a:p>
            <a:pPr algn="l">
              <a:spcAft>
                <a:spcPts val="0"/>
              </a:spcAft>
            </a:pPr>
            <a:r>
              <a:rPr sz="1400" b="0" i="0">
                <a:solidFill>
                  <a:srgbClr val="1F2937"/>
                </a:solidFill>
                <a:latin typeface="Maiandra GD"/>
              </a:rPr>
              <a:t>The processor calls calculate() through a base class pointer. The correct PF or ESIC version runs at runtime (virtual function).</a:t>
            </a:r>
          </a:p>
        </p:txBody>
      </p:sp>
      <p:sp>
        <p:nvSpPr>
          <p:cNvPr id="12" name="Rounded Rectangle 11"/>
          <p:cNvSpPr/>
          <p:nvPr/>
        </p:nvSpPr>
        <p:spPr>
          <a:xfrm>
            <a:off x="548640" y="3566159"/>
            <a:ext cx="5760720" cy="107899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602735"/>
            <a:ext cx="5486400" cy="1005839"/>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6. Constructors</a:t>
            </a:r>
          </a:p>
          <a:p>
            <a:pPr algn="l">
              <a:spcAft>
                <a:spcPts val="0"/>
              </a:spcAft>
            </a:pPr>
            <a:r>
              <a:rPr sz="1400" b="0" i="0">
                <a:solidFill>
                  <a:srgbClr val="1F2937"/>
                </a:solidFill>
                <a:latin typeface="Maiandra GD"/>
              </a:rPr>
              <a:t>Employee, Attendance and SalaryRecord objects start with proper values, so nothing is left uninitialized.</a:t>
            </a:r>
          </a:p>
        </p:txBody>
      </p:sp>
      <p:sp>
        <p:nvSpPr>
          <p:cNvPr id="14" name="Rounded Rectangle 13"/>
          <p:cNvSpPr/>
          <p:nvPr/>
        </p:nvSpPr>
        <p:spPr>
          <a:xfrm>
            <a:off x="548640" y="4754879"/>
            <a:ext cx="5760720" cy="1078992"/>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791455"/>
            <a:ext cx="5486400" cy="1005839"/>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7. Function Overloading</a:t>
            </a:r>
          </a:p>
          <a:p>
            <a:pPr algn="l">
              <a:spcAft>
                <a:spcPts val="0"/>
              </a:spcAft>
            </a:pPr>
            <a:r>
              <a:rPr sz="1400" b="0" i="0">
                <a:solidFill>
                  <a:srgbClr val="1F2937"/>
                </a:solidFill>
                <a:latin typeface="Maiandra GD"/>
              </a:rPr>
              <a:t>generateReport() has two forms: one for the whole month and another for a single employee.</a:t>
            </a:r>
          </a:p>
        </p:txBody>
      </p:sp>
      <p:sp>
        <p:nvSpPr>
          <p:cNvPr id="16" name="Rounded Rectangle 15"/>
          <p:cNvSpPr/>
          <p:nvPr/>
        </p:nvSpPr>
        <p:spPr>
          <a:xfrm>
            <a:off x="6583680" y="1188720"/>
            <a:ext cx="5029200" cy="4663440"/>
          </a:xfrm>
          <a:prstGeom prst="roundRect">
            <a:avLst>
              <a:gd name="adj" fmla="val 3000"/>
            </a:avLst>
          </a:prstGeom>
          <a:solidFill>
            <a:srgbClr val="0B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1261872"/>
            <a:ext cx="4663440" cy="365760"/>
          </a:xfrm>
          <a:prstGeom prst="rect">
            <a:avLst/>
          </a:prstGeom>
          <a:noFill/>
        </p:spPr>
        <p:txBody>
          <a:bodyPr wrap="square" lIns="45720" tIns="27432" rIns="45720" bIns="27432" anchor="t">
            <a:spAutoFit/>
          </a:bodyPr>
          <a:lstStyle/>
          <a:p>
            <a:pPr algn="l">
              <a:spcAft>
                <a:spcPts val="0"/>
              </a:spcAft>
            </a:pPr>
            <a:r>
              <a:rPr sz="1200" b="1" i="0">
                <a:solidFill>
                  <a:srgbClr val="9DC3E6"/>
                </a:solidFill>
                <a:latin typeface="Maiandra GD"/>
              </a:rPr>
              <a:t>Inheritance, polymorphism, overloading</a:t>
            </a:r>
          </a:p>
        </p:txBody>
      </p:sp>
      <p:sp>
        <p:nvSpPr>
          <p:cNvPr id="18" name="TextBox 17"/>
          <p:cNvSpPr txBox="1"/>
          <p:nvPr/>
        </p:nvSpPr>
        <p:spPr>
          <a:xfrm>
            <a:off x="6766560" y="1645920"/>
            <a:ext cx="4709160" cy="4114800"/>
          </a:xfrm>
          <a:prstGeom prst="rect">
            <a:avLst/>
          </a:prstGeom>
          <a:noFill/>
        </p:spPr>
        <p:txBody>
          <a:bodyPr wrap="square" lIns="18288" tIns="27432" rIns="18288" bIns="27432" anchor="t">
            <a:spAutoFit/>
          </a:bodyPr>
          <a:lstStyle/>
          <a:p>
            <a:pPr algn="l">
              <a:spcAft>
                <a:spcPts val="0"/>
              </a:spcAft>
            </a:pPr>
            <a:r>
              <a:rPr sz="1200" b="0" i="0">
                <a:solidFill>
                  <a:srgbClr val="E6EDF7"/>
                </a:solidFill>
                <a:latin typeface="Courier New"/>
              </a:rPr>
              <a:t>class Calculator {</a:t>
            </a:r>
          </a:p>
          <a:p>
            <a:pPr algn="l">
              <a:spcAft>
                <a:spcPts val="0"/>
              </a:spcAft>
            </a:pPr>
            <a:r>
              <a:rPr sz="1200" b="0" i="0">
                <a:solidFill>
                  <a:srgbClr val="E6EDF7"/>
                </a:solidFill>
                <a:latin typeface="Courier New"/>
              </a:rPr>
              <a:t>public:</a:t>
            </a:r>
          </a:p>
          <a:p>
            <a:pPr algn="l">
              <a:spcAft>
                <a:spcPts val="0"/>
              </a:spcAft>
            </a:pPr>
            <a:r>
              <a:rPr sz="1200" b="0" i="0">
                <a:solidFill>
                  <a:srgbClr val="E6EDF7"/>
                </a:solidFill>
                <a:latin typeface="Courier New"/>
              </a:rPr>
              <a:t>    virtual double calculate(</a:t>
            </a:r>
          </a:p>
          <a:p>
            <a:pPr algn="l">
              <a:spcAft>
                <a:spcPts val="0"/>
              </a:spcAft>
            </a:pPr>
            <a:r>
              <a:rPr sz="1200" b="0" i="0">
                <a:solidFill>
                  <a:srgbClr val="E6EDF7"/>
                </a:solidFill>
                <a:latin typeface="Courier New"/>
              </a:rPr>
              <a:t>        const SalaryRecord&amp; r) = 0;</a:t>
            </a:r>
          </a:p>
          <a:p>
            <a:pPr algn="l">
              <a:spcAft>
                <a:spcPts val="0"/>
              </a:spcAft>
            </a:pPr>
            <a:r>
              <a:rPr sz="1200" b="0" i="0">
                <a:solidFill>
                  <a:srgbClr val="E6EDF7"/>
                </a:solidFill>
                <a:latin typeface="Courier New"/>
              </a:rPr>
              <a:t>    virtual ~Calculator() {}</a:t>
            </a:r>
          </a:p>
          <a:p>
            <a:pPr algn="l">
              <a:spcAft>
                <a:spcPts val="0"/>
              </a:spcAft>
            </a:pPr>
            <a:r>
              <a:rPr sz="1200" b="0" i="0">
                <a:solidFill>
                  <a:srgbClr val="E6EDF7"/>
                </a:solidFill>
                <a:latin typeface="Courier New"/>
              </a:rPr>
              <a:t>};</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class PFCalculator : public Calculator {</a:t>
            </a:r>
          </a:p>
          <a:p>
            <a:pPr algn="l">
              <a:spcAft>
                <a:spcPts val="0"/>
              </a:spcAft>
            </a:pPr>
            <a:r>
              <a:rPr sz="1200" b="0" i="0">
                <a:solidFill>
                  <a:srgbClr val="E6EDF7"/>
                </a:solidFill>
                <a:latin typeface="Courier New"/>
              </a:rPr>
              <a:t>public:</a:t>
            </a:r>
          </a:p>
          <a:p>
            <a:pPr algn="l">
              <a:spcAft>
                <a:spcPts val="0"/>
              </a:spcAft>
            </a:pPr>
            <a:r>
              <a:rPr sz="1200" b="0" i="0">
                <a:solidFill>
                  <a:srgbClr val="E6EDF7"/>
                </a:solidFill>
                <a:latin typeface="Courier New"/>
              </a:rPr>
              <a:t>    double calculate(</a:t>
            </a:r>
          </a:p>
          <a:p>
            <a:pPr algn="l">
              <a:spcAft>
                <a:spcPts val="0"/>
              </a:spcAft>
            </a:pPr>
            <a:r>
              <a:rPr sz="1200" b="0" i="0">
                <a:solidFill>
                  <a:srgbClr val="E6EDF7"/>
                </a:solidFill>
                <a:latin typeface="Courier New"/>
              </a:rPr>
              <a:t>        const SalaryRecord&amp; r) override;</a:t>
            </a:r>
          </a:p>
          <a:p>
            <a:pPr algn="l">
              <a:spcAft>
                <a:spcPts val="0"/>
              </a:spcAft>
            </a:pPr>
            <a:r>
              <a:rPr sz="1200" b="0" i="0">
                <a:solidFill>
                  <a:srgbClr val="E6EDF7"/>
                </a:solidFill>
                <a:latin typeface="Courier New"/>
              </a:rPr>
              <a:t>};</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 constructor</a:t>
            </a:r>
          </a:p>
          <a:p>
            <a:pPr algn="l">
              <a:spcAft>
                <a:spcPts val="0"/>
              </a:spcAft>
            </a:pPr>
            <a:r>
              <a:rPr sz="1200" b="0" i="0">
                <a:solidFill>
                  <a:srgbClr val="E6EDF7"/>
                </a:solidFill>
                <a:latin typeface="Courier New"/>
              </a:rPr>
              <a:t>Employee(int id, string name, string uan);</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 overloaded report functions</a:t>
            </a:r>
          </a:p>
          <a:p>
            <a:pPr algn="l">
              <a:spcAft>
                <a:spcPts val="0"/>
              </a:spcAft>
            </a:pPr>
            <a:r>
              <a:rPr sz="1200" b="0" i="0">
                <a:solidFill>
                  <a:srgbClr val="E6EDF7"/>
                </a:solidFill>
                <a:latin typeface="Courier New"/>
              </a:rPr>
              <a:t>void generateReport(int month);</a:t>
            </a:r>
          </a:p>
          <a:p>
            <a:pPr algn="l">
              <a:spcAft>
                <a:spcPts val="0"/>
              </a:spcAft>
            </a:pPr>
            <a:r>
              <a:rPr sz="1200" b="0" i="0">
                <a:solidFill>
                  <a:srgbClr val="E6EDF7"/>
                </a:solidFill>
                <a:latin typeface="Courier New"/>
              </a:rPr>
              <a:t>void generateReport(int month, int empId);</a:t>
            </a:r>
          </a:p>
        </p:txBody>
      </p:sp>
    </p:spTree>
    <p:extLst>
      <p:ext uri="{BB962C8B-B14F-4D97-AF65-F5344CB8AC3E}">
        <p14:creationId xmlns:p14="http://schemas.microsoft.com/office/powerpoint/2010/main" val="2608614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8DC03B-E94D-200C-182D-CFD61A9C8A7F}"/>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4F39F8EE-133C-2A0C-DA7E-36E12C1995D7}"/>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BFC5F183-FD2D-4F53-B2E2-54707CE8EA0F}"/>
              </a:ext>
            </a:extLst>
          </p:cNvPr>
          <p:cNvSpPr>
            <a:spLocks noGrp="1"/>
          </p:cNvSpPr>
          <p:nvPr>
            <p:ph type="sldNum" sz="quarter" idx="13"/>
          </p:nvPr>
        </p:nvSpPr>
        <p:spPr/>
        <p:txBody>
          <a:bodyPr/>
          <a:lstStyle/>
          <a:p>
            <a:fld id="{326EF2E3-409D-4D76-AD02-397A36B0DAF9}" type="slidenum">
              <a:rPr lang="en-US" smtClean="0"/>
              <a:pPr/>
              <a:t>13</a:t>
            </a:fld>
            <a:endParaRPr lang="en-US"/>
          </a:p>
        </p:txBody>
      </p:sp>
      <p:sp>
        <p:nvSpPr>
          <p:cNvPr id="7" name="Title 1">
            <a:extLst>
              <a:ext uri="{FF2B5EF4-FFF2-40B4-BE49-F238E27FC236}">
                <a16:creationId xmlns:a16="http://schemas.microsoft.com/office/drawing/2014/main" id="{960E0F45-AFC8-653E-BC0E-529706430139}"/>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C++ OOP CONCEPTS (3/3)</a:t>
            </a:r>
          </a:p>
        </p:txBody>
      </p:sp>
      <p:sp>
        <p:nvSpPr>
          <p:cNvPr id="8" name="Rounded Rectangle 7"/>
          <p:cNvSpPr/>
          <p:nvPr/>
        </p:nvSpPr>
        <p:spPr>
          <a:xfrm>
            <a:off x="548640" y="1188720"/>
            <a:ext cx="5760720" cy="11430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225296"/>
            <a:ext cx="5486400" cy="106984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8. STL</a:t>
            </a:r>
          </a:p>
          <a:p>
            <a:pPr algn="l">
              <a:spcAft>
                <a:spcPts val="0"/>
              </a:spcAft>
            </a:pPr>
            <a:r>
              <a:rPr sz="1400" b="0" i="0">
                <a:solidFill>
                  <a:srgbClr val="1F2937"/>
                </a:solidFill>
                <a:latin typeface="Maiandra GD"/>
              </a:rPr>
              <a:t>vector holds the list of employees and map keeps month-wise salary records, so searching and looping is easy.</a:t>
            </a:r>
          </a:p>
        </p:txBody>
      </p:sp>
      <p:sp>
        <p:nvSpPr>
          <p:cNvPr id="10" name="Rounded Rectangle 9"/>
          <p:cNvSpPr/>
          <p:nvPr/>
        </p:nvSpPr>
        <p:spPr>
          <a:xfrm>
            <a:off x="548640" y="2441448"/>
            <a:ext cx="5760720" cy="11430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478024"/>
            <a:ext cx="5486400" cy="106984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9. File Handling</a:t>
            </a:r>
          </a:p>
          <a:p>
            <a:pPr algn="l">
              <a:spcAft>
                <a:spcPts val="0"/>
              </a:spcAft>
            </a:pPr>
            <a:r>
              <a:rPr sz="1400" b="0" i="0">
                <a:solidFill>
                  <a:srgbClr val="1F2937"/>
                </a:solidFill>
                <a:latin typeface="Maiandra GD"/>
              </a:rPr>
              <a:t>ofstream and ifstream read and write reports and export-ready text files.</a:t>
            </a:r>
          </a:p>
        </p:txBody>
      </p:sp>
      <p:sp>
        <p:nvSpPr>
          <p:cNvPr id="12" name="Rounded Rectangle 11"/>
          <p:cNvSpPr/>
          <p:nvPr/>
        </p:nvSpPr>
        <p:spPr>
          <a:xfrm>
            <a:off x="548640" y="3694176"/>
            <a:ext cx="5760720" cy="114300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730752"/>
            <a:ext cx="5486400" cy="1069848"/>
          </a:xfrm>
          <a:prstGeom prst="rect">
            <a:avLst/>
          </a:prstGeom>
          <a:noFill/>
        </p:spPr>
        <p:txBody>
          <a:bodyPr wrap="square" lIns="45720" tIns="27432" rIns="45720" bIns="27432" anchor="ctr">
            <a:spAutoFit/>
          </a:bodyPr>
          <a:lstStyle/>
          <a:p>
            <a:pPr algn="l">
              <a:spcAft>
                <a:spcPts val="200"/>
              </a:spcAft>
            </a:pPr>
            <a:r>
              <a:rPr sz="1600" b="1" i="0">
                <a:solidFill>
                  <a:srgbClr val="0070C0"/>
                </a:solidFill>
                <a:latin typeface="Maiandra GD"/>
              </a:rPr>
              <a:t>10. Exception Handling</a:t>
            </a:r>
          </a:p>
          <a:p>
            <a:pPr algn="l">
              <a:spcAft>
                <a:spcPts val="0"/>
              </a:spcAft>
            </a:pPr>
            <a:r>
              <a:rPr sz="1400" b="0" i="0">
                <a:solidFill>
                  <a:srgbClr val="1F2937"/>
                </a:solidFill>
                <a:latin typeface="Maiandra GD"/>
              </a:rPr>
              <a:t>try, catch and throw handle wrong data like negative wages, missing UAN or a wrong month without stopping the program.</a:t>
            </a:r>
          </a:p>
        </p:txBody>
      </p:sp>
      <p:sp>
        <p:nvSpPr>
          <p:cNvPr id="14" name="Rounded Rectangle 13"/>
          <p:cNvSpPr/>
          <p:nvPr/>
        </p:nvSpPr>
        <p:spPr>
          <a:xfrm>
            <a:off x="548640" y="4983480"/>
            <a:ext cx="5760720" cy="868680"/>
          </a:xfrm>
          <a:prstGeom prst="roundRect">
            <a:avLst>
              <a:gd name="adj" fmla="val 6000"/>
            </a:avLst>
          </a:prstGeom>
          <a:solidFill>
            <a:srgbClr val="FFF2E5"/>
          </a:solidFill>
          <a:ln w="12700">
            <a:solidFill>
              <a:srgbClr val="F4B1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983480"/>
            <a:ext cx="5486400" cy="86868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Also used: </a:t>
            </a:r>
          </a:p>
          <a:p>
            <a:pPr algn="l">
              <a:spcAft>
                <a:spcPts val="0"/>
              </a:spcAft>
            </a:pPr>
            <a:r>
              <a:rPr sz="1400" b="0" i="0">
                <a:solidFill>
                  <a:srgbClr val="1F2937"/>
                </a:solidFill>
                <a:latin typeface="Maiandra GD"/>
              </a:rPr>
              <a:t>private / public access specifiers, const functions, and separate header (.h), source (.cpp) and test files.</a:t>
            </a:r>
          </a:p>
        </p:txBody>
      </p:sp>
      <p:sp>
        <p:nvSpPr>
          <p:cNvPr id="16" name="Rounded Rectangle 15"/>
          <p:cNvSpPr/>
          <p:nvPr/>
        </p:nvSpPr>
        <p:spPr>
          <a:xfrm>
            <a:off x="6583680" y="1188720"/>
            <a:ext cx="5029200" cy="4663440"/>
          </a:xfrm>
          <a:prstGeom prst="roundRect">
            <a:avLst>
              <a:gd name="adj" fmla="val 3000"/>
            </a:avLst>
          </a:prstGeom>
          <a:solidFill>
            <a:srgbClr val="0B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60" y="1261872"/>
            <a:ext cx="4663440" cy="365760"/>
          </a:xfrm>
          <a:prstGeom prst="rect">
            <a:avLst/>
          </a:prstGeom>
          <a:noFill/>
        </p:spPr>
        <p:txBody>
          <a:bodyPr wrap="square" lIns="45720" tIns="27432" rIns="45720" bIns="27432" anchor="t">
            <a:spAutoFit/>
          </a:bodyPr>
          <a:lstStyle/>
          <a:p>
            <a:pPr algn="l">
              <a:spcAft>
                <a:spcPts val="0"/>
              </a:spcAft>
            </a:pPr>
            <a:r>
              <a:rPr sz="1200" b="1" i="0">
                <a:solidFill>
                  <a:srgbClr val="9DC3E6"/>
                </a:solidFill>
                <a:latin typeface="Maiandra GD"/>
              </a:rPr>
              <a:t>STL, file handling, exceptions</a:t>
            </a:r>
          </a:p>
        </p:txBody>
      </p:sp>
      <p:sp>
        <p:nvSpPr>
          <p:cNvPr id="18" name="TextBox 17"/>
          <p:cNvSpPr txBox="1"/>
          <p:nvPr/>
        </p:nvSpPr>
        <p:spPr>
          <a:xfrm>
            <a:off x="6766560" y="1645920"/>
            <a:ext cx="4709160" cy="4114800"/>
          </a:xfrm>
          <a:prstGeom prst="rect">
            <a:avLst/>
          </a:prstGeom>
          <a:noFill/>
        </p:spPr>
        <p:txBody>
          <a:bodyPr wrap="square" lIns="18288" tIns="27432" rIns="18288" bIns="27432" anchor="t">
            <a:spAutoFit/>
          </a:bodyPr>
          <a:lstStyle/>
          <a:p>
            <a:pPr algn="l">
              <a:spcAft>
                <a:spcPts val="0"/>
              </a:spcAft>
            </a:pPr>
            <a:r>
              <a:rPr sz="1200" b="0" i="0">
                <a:solidFill>
                  <a:srgbClr val="E6EDF7"/>
                </a:solidFill>
                <a:latin typeface="Courier New"/>
              </a:rPr>
              <a:t>vector&lt;Employee&gt; staff;          // STL</a:t>
            </a:r>
          </a:p>
          <a:p>
            <a:pPr algn="l">
              <a:spcAft>
                <a:spcPts val="0"/>
              </a:spcAft>
            </a:pPr>
            <a:r>
              <a:rPr sz="1200" b="0" i="0">
                <a:solidFill>
                  <a:srgbClr val="E6EDF7"/>
                </a:solidFill>
                <a:latin typeface="Courier New"/>
              </a:rPr>
              <a:t>map&lt;int, SalaryRecord&gt; payroll;</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ofstream out("payroll_report.txt");</a:t>
            </a:r>
          </a:p>
          <a:p>
            <a:pPr algn="l">
              <a:spcAft>
                <a:spcPts val="0"/>
              </a:spcAft>
            </a:pPr>
            <a:r>
              <a:rPr sz="1200" b="0" i="0">
                <a:solidFill>
                  <a:srgbClr val="E6EDF7"/>
                </a:solidFill>
                <a:latin typeface="Courier New"/>
              </a:rPr>
              <a:t>out &lt;&lt; empId &lt;&lt; "," &lt;&lt; netPay &lt;&lt; "\n";</a:t>
            </a:r>
          </a:p>
          <a:p>
            <a:pPr algn="l">
              <a:spcAft>
                <a:spcPts val="0"/>
              </a:spcAft>
            </a:pPr>
            <a:r>
              <a:rPr sz="1200" b="0" i="0">
                <a:solidFill>
                  <a:srgbClr val="E6EDF7"/>
                </a:solidFill>
                <a:latin typeface="Courier New"/>
              </a:rPr>
              <a:t> </a:t>
            </a:r>
          </a:p>
          <a:p>
            <a:pPr algn="l">
              <a:spcAft>
                <a:spcPts val="0"/>
              </a:spcAft>
            </a:pPr>
            <a:r>
              <a:rPr sz="1200" b="0" i="0">
                <a:solidFill>
                  <a:srgbClr val="E6EDF7"/>
                </a:solidFill>
                <a:latin typeface="Courier New"/>
              </a:rPr>
              <a:t>try {</a:t>
            </a:r>
          </a:p>
          <a:p>
            <a:pPr algn="l">
              <a:spcAft>
                <a:spcPts val="0"/>
              </a:spcAft>
            </a:pPr>
            <a:r>
              <a:rPr sz="1200" b="0" i="0">
                <a:solidFill>
                  <a:srgbClr val="E6EDF7"/>
                </a:solidFill>
                <a:latin typeface="Courier New"/>
              </a:rPr>
              <a:t>    processPayroll(record);</a:t>
            </a:r>
          </a:p>
          <a:p>
            <a:pPr algn="l">
              <a:spcAft>
                <a:spcPts val="0"/>
              </a:spcAft>
            </a:pPr>
            <a:r>
              <a:rPr sz="1200" b="0" i="0">
                <a:solidFill>
                  <a:srgbClr val="E6EDF7"/>
                </a:solidFill>
                <a:latin typeface="Courier New"/>
              </a:rPr>
              <a:t>}</a:t>
            </a:r>
          </a:p>
          <a:p>
            <a:pPr algn="l">
              <a:spcAft>
                <a:spcPts val="0"/>
              </a:spcAft>
            </a:pPr>
            <a:r>
              <a:rPr sz="1200" b="0" i="0">
                <a:solidFill>
                  <a:srgbClr val="E6EDF7"/>
                </a:solidFill>
                <a:latin typeface="Courier New"/>
              </a:rPr>
              <a:t>catch (const exception&amp; e) {</a:t>
            </a:r>
          </a:p>
          <a:p>
            <a:pPr algn="l">
              <a:spcAft>
                <a:spcPts val="0"/>
              </a:spcAft>
            </a:pPr>
            <a:r>
              <a:rPr sz="1200" b="0" i="0">
                <a:solidFill>
                  <a:srgbClr val="E6EDF7"/>
                </a:solidFill>
                <a:latin typeface="Courier New"/>
              </a:rPr>
              <a:t>    cout &lt;&lt; "Error: " &lt;&lt; e.what();</a:t>
            </a:r>
          </a:p>
          <a:p>
            <a:pPr algn="l">
              <a:spcAft>
                <a:spcPts val="0"/>
              </a:spcAft>
            </a:pPr>
            <a:r>
              <a:rPr sz="1200" b="0" i="0">
                <a:solidFill>
                  <a:srgbClr val="E6EDF7"/>
                </a:solidFill>
                <a:latin typeface="Courier New"/>
              </a:rPr>
              <a:t>}</a:t>
            </a:r>
          </a:p>
        </p:txBody>
      </p:sp>
    </p:spTree>
    <p:extLst>
      <p:ext uri="{BB962C8B-B14F-4D97-AF65-F5344CB8AC3E}">
        <p14:creationId xmlns:p14="http://schemas.microsoft.com/office/powerpoint/2010/main" val="2608614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779C47-A2A7-4B38-A302-9A2E41DFD2C6}"/>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79A6201A-6B32-8F40-4067-90FC777EE50B}"/>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A49A6816-3BBD-40DD-0E87-662768FE55A7}"/>
              </a:ext>
            </a:extLst>
          </p:cNvPr>
          <p:cNvSpPr>
            <a:spLocks noGrp="1"/>
          </p:cNvSpPr>
          <p:nvPr>
            <p:ph type="sldNum" sz="quarter" idx="13"/>
          </p:nvPr>
        </p:nvSpPr>
        <p:spPr/>
        <p:txBody>
          <a:bodyPr/>
          <a:lstStyle/>
          <a:p>
            <a:fld id="{326EF2E3-409D-4D76-AD02-397A36B0DAF9}" type="slidenum">
              <a:rPr lang="en-US" smtClean="0"/>
              <a:pPr/>
              <a:t>14</a:t>
            </a:fld>
            <a:endParaRPr lang="en-US"/>
          </a:p>
        </p:txBody>
      </p:sp>
      <p:sp>
        <p:nvSpPr>
          <p:cNvPr id="7" name="Title 1">
            <a:extLst>
              <a:ext uri="{FF2B5EF4-FFF2-40B4-BE49-F238E27FC236}">
                <a16:creationId xmlns:a16="http://schemas.microsoft.com/office/drawing/2014/main" id="{BCB9CA77-766C-3B68-442A-E711710BB71E}"/>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000" b="1" dirty="0">
                <a:solidFill>
                  <a:srgbClr val="0070C0"/>
                </a:solidFill>
                <a:latin typeface="Maiandra GD" pitchFamily="34" charset="0"/>
              </a:rPr>
              <a:t>PLANNING &amp; TIMELINE DIAGRAM</a:t>
            </a:r>
          </a:p>
        </p:txBody>
      </p:sp>
      <p:sp>
        <p:nvSpPr>
          <p:cNvPr id="8" name="Rounded Rectangle 7"/>
          <p:cNvSpPr/>
          <p:nvPr/>
        </p:nvSpPr>
        <p:spPr>
          <a:xfrm>
            <a:off x="548640" y="128016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85800" y="1417319"/>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1</a:t>
            </a:r>
          </a:p>
        </p:txBody>
      </p:sp>
      <p:sp>
        <p:nvSpPr>
          <p:cNvPr id="10" name="TextBox 9"/>
          <p:cNvSpPr txBox="1"/>
          <p:nvPr/>
        </p:nvSpPr>
        <p:spPr>
          <a:xfrm>
            <a:off x="1280160" y="1463039"/>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Review-1</a:t>
            </a:r>
          </a:p>
        </p:txBody>
      </p:sp>
      <p:sp>
        <p:nvSpPr>
          <p:cNvPr id="11" name="TextBox 10"/>
          <p:cNvSpPr txBox="1"/>
          <p:nvPr/>
        </p:nvSpPr>
        <p:spPr>
          <a:xfrm>
            <a:off x="685800" y="1993391"/>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Planning and Design</a:t>
            </a:r>
          </a:p>
        </p:txBody>
      </p:sp>
      <p:sp>
        <p:nvSpPr>
          <p:cNvPr id="12" name="TextBox 11"/>
          <p:cNvSpPr txBox="1"/>
          <p:nvPr/>
        </p:nvSpPr>
        <p:spPr>
          <a:xfrm>
            <a:off x="685800" y="2450591"/>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Abstract, objectives, modules, class design and diagrams.</a:t>
            </a:r>
          </a:p>
        </p:txBody>
      </p:sp>
      <p:cxnSp>
        <p:nvCxnSpPr>
          <p:cNvPr id="13" name="Connector 12"/>
          <p:cNvCxnSpPr/>
          <p:nvPr/>
        </p:nvCxnSpPr>
        <p:spPr>
          <a:xfrm>
            <a:off x="3931920" y="2350008"/>
            <a:ext cx="475488" cy="0"/>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07408" y="128016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44568" y="1417319"/>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2</a:t>
            </a:r>
          </a:p>
        </p:txBody>
      </p:sp>
      <p:sp>
        <p:nvSpPr>
          <p:cNvPr id="16" name="TextBox 15"/>
          <p:cNvSpPr txBox="1"/>
          <p:nvPr/>
        </p:nvSpPr>
        <p:spPr>
          <a:xfrm>
            <a:off x="5138928" y="1463039"/>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Phase 1</a:t>
            </a:r>
          </a:p>
        </p:txBody>
      </p:sp>
      <p:sp>
        <p:nvSpPr>
          <p:cNvPr id="17" name="TextBox 16"/>
          <p:cNvSpPr txBox="1"/>
          <p:nvPr/>
        </p:nvSpPr>
        <p:spPr>
          <a:xfrm>
            <a:off x="4544568" y="1993391"/>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Employee Modules</a:t>
            </a:r>
          </a:p>
        </p:txBody>
      </p:sp>
      <p:sp>
        <p:nvSpPr>
          <p:cNvPr id="18" name="TextBox 17"/>
          <p:cNvSpPr txBox="1"/>
          <p:nvPr/>
        </p:nvSpPr>
        <p:spPr>
          <a:xfrm>
            <a:off x="4544568" y="2450591"/>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Employee master, documents, monthly attendance and wage entry.</a:t>
            </a:r>
          </a:p>
        </p:txBody>
      </p:sp>
      <p:cxnSp>
        <p:nvCxnSpPr>
          <p:cNvPr id="19" name="Connector 18"/>
          <p:cNvCxnSpPr/>
          <p:nvPr/>
        </p:nvCxnSpPr>
        <p:spPr>
          <a:xfrm>
            <a:off x="7790688" y="2350008"/>
            <a:ext cx="475487" cy="0"/>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66176" y="128016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03336" y="1417319"/>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3</a:t>
            </a:r>
          </a:p>
        </p:txBody>
      </p:sp>
      <p:sp>
        <p:nvSpPr>
          <p:cNvPr id="22" name="TextBox 21"/>
          <p:cNvSpPr txBox="1"/>
          <p:nvPr/>
        </p:nvSpPr>
        <p:spPr>
          <a:xfrm>
            <a:off x="8997696" y="1463039"/>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Review-2</a:t>
            </a:r>
          </a:p>
        </p:txBody>
      </p:sp>
      <p:sp>
        <p:nvSpPr>
          <p:cNvPr id="23" name="TextBox 22"/>
          <p:cNvSpPr txBox="1"/>
          <p:nvPr/>
        </p:nvSpPr>
        <p:spPr>
          <a:xfrm>
            <a:off x="8403336" y="1993391"/>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C++ Calculation Engine</a:t>
            </a:r>
          </a:p>
        </p:txBody>
      </p:sp>
      <p:sp>
        <p:nvSpPr>
          <p:cNvPr id="24" name="TextBox 23"/>
          <p:cNvSpPr txBox="1"/>
          <p:nvPr/>
        </p:nvSpPr>
        <p:spPr>
          <a:xfrm>
            <a:off x="8403336" y="2450591"/>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Payroll, PF and ESIC calculator classes with testing.</a:t>
            </a:r>
          </a:p>
        </p:txBody>
      </p:sp>
      <p:sp>
        <p:nvSpPr>
          <p:cNvPr id="25" name="Rounded Rectangle 24"/>
          <p:cNvSpPr/>
          <p:nvPr/>
        </p:nvSpPr>
        <p:spPr>
          <a:xfrm>
            <a:off x="548640" y="370332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85800" y="384048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4</a:t>
            </a:r>
          </a:p>
        </p:txBody>
      </p:sp>
      <p:sp>
        <p:nvSpPr>
          <p:cNvPr id="27" name="TextBox 26"/>
          <p:cNvSpPr txBox="1"/>
          <p:nvPr/>
        </p:nvSpPr>
        <p:spPr>
          <a:xfrm>
            <a:off x="1280160" y="3886200"/>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Phase 1</a:t>
            </a:r>
          </a:p>
        </p:txBody>
      </p:sp>
      <p:sp>
        <p:nvSpPr>
          <p:cNvPr id="28" name="TextBox 27"/>
          <p:cNvSpPr txBox="1"/>
          <p:nvPr/>
        </p:nvSpPr>
        <p:spPr>
          <a:xfrm>
            <a:off x="685800" y="4416552"/>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Validation and Reports</a:t>
            </a:r>
          </a:p>
        </p:txBody>
      </p:sp>
      <p:sp>
        <p:nvSpPr>
          <p:cNvPr id="29" name="TextBox 28"/>
          <p:cNvSpPr txBox="1"/>
          <p:nvPr/>
        </p:nvSpPr>
        <p:spPr>
          <a:xfrm>
            <a:off x="685800" y="4873752"/>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Payroll history, error checks, salary and statutory reports.</a:t>
            </a:r>
          </a:p>
        </p:txBody>
      </p:sp>
      <p:cxnSp>
        <p:nvCxnSpPr>
          <p:cNvPr id="30" name="Connector 29"/>
          <p:cNvCxnSpPr/>
          <p:nvPr/>
        </p:nvCxnSpPr>
        <p:spPr>
          <a:xfrm>
            <a:off x="3931920" y="4773168"/>
            <a:ext cx="475488" cy="0"/>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407408" y="370332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44568" y="384048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5</a:t>
            </a:r>
          </a:p>
        </p:txBody>
      </p:sp>
      <p:sp>
        <p:nvSpPr>
          <p:cNvPr id="33" name="TextBox 32"/>
          <p:cNvSpPr txBox="1"/>
          <p:nvPr/>
        </p:nvSpPr>
        <p:spPr>
          <a:xfrm>
            <a:off x="5138928" y="3886200"/>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Phase 2</a:t>
            </a:r>
          </a:p>
        </p:txBody>
      </p:sp>
      <p:sp>
        <p:nvSpPr>
          <p:cNvPr id="34" name="TextBox 33"/>
          <p:cNvSpPr txBox="1"/>
          <p:nvPr/>
        </p:nvSpPr>
        <p:spPr>
          <a:xfrm>
            <a:off x="4544568" y="4416552"/>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PF and ESIC Export Files</a:t>
            </a:r>
          </a:p>
        </p:txBody>
      </p:sp>
      <p:sp>
        <p:nvSpPr>
          <p:cNvPr id="35" name="TextBox 34"/>
          <p:cNvSpPr txBox="1"/>
          <p:nvPr/>
        </p:nvSpPr>
        <p:spPr>
          <a:xfrm>
            <a:off x="4544568" y="4873752"/>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ECR text file and ESIC Excel file after checking official formats.</a:t>
            </a:r>
          </a:p>
        </p:txBody>
      </p:sp>
      <p:cxnSp>
        <p:nvCxnSpPr>
          <p:cNvPr id="36" name="Connector 35"/>
          <p:cNvCxnSpPr/>
          <p:nvPr/>
        </p:nvCxnSpPr>
        <p:spPr>
          <a:xfrm>
            <a:off x="7790688" y="4773168"/>
            <a:ext cx="475487" cy="0"/>
          </a:xfrm>
          <a:prstGeom prst="line">
            <a:avLst/>
          </a:prstGeom>
          <a:ln w="3175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266176" y="3703320"/>
            <a:ext cx="3383280" cy="214884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403336" y="3840480"/>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6</a:t>
            </a:r>
          </a:p>
        </p:txBody>
      </p:sp>
      <p:sp>
        <p:nvSpPr>
          <p:cNvPr id="39" name="TextBox 38"/>
          <p:cNvSpPr txBox="1"/>
          <p:nvPr/>
        </p:nvSpPr>
        <p:spPr>
          <a:xfrm>
            <a:off x="8997696" y="3886200"/>
            <a:ext cx="2560320" cy="365760"/>
          </a:xfrm>
          <a:prstGeom prst="rect">
            <a:avLst/>
          </a:prstGeom>
          <a:noFill/>
        </p:spPr>
        <p:txBody>
          <a:bodyPr wrap="square" lIns="45720" tIns="27432" rIns="45720" bIns="27432" anchor="ctr">
            <a:spAutoFit/>
          </a:bodyPr>
          <a:lstStyle/>
          <a:p>
            <a:pPr algn="l">
              <a:spcAft>
                <a:spcPts val="0"/>
              </a:spcAft>
            </a:pPr>
            <a:r>
              <a:rPr sz="1400" b="1" i="0">
                <a:solidFill>
                  <a:srgbClr val="C55A11"/>
                </a:solidFill>
                <a:latin typeface="Maiandra GD"/>
              </a:rPr>
              <a:t>Final Review</a:t>
            </a:r>
          </a:p>
        </p:txBody>
      </p:sp>
      <p:sp>
        <p:nvSpPr>
          <p:cNvPr id="40" name="TextBox 39"/>
          <p:cNvSpPr txBox="1"/>
          <p:nvPr/>
        </p:nvSpPr>
        <p:spPr>
          <a:xfrm>
            <a:off x="8403336" y="4416552"/>
            <a:ext cx="3108960" cy="411480"/>
          </a:xfrm>
          <a:prstGeom prst="rect">
            <a:avLst/>
          </a:prstGeom>
          <a:noFill/>
        </p:spPr>
        <p:txBody>
          <a:bodyPr wrap="square" lIns="45720" tIns="27432" rIns="45720" bIns="27432" anchor="t">
            <a:spAutoFit/>
          </a:bodyPr>
          <a:lstStyle/>
          <a:p>
            <a:pPr algn="l">
              <a:spcAft>
                <a:spcPts val="0"/>
              </a:spcAft>
            </a:pPr>
            <a:r>
              <a:rPr sz="1700" b="1" i="0">
                <a:solidFill>
                  <a:srgbClr val="0070C0"/>
                </a:solidFill>
                <a:latin typeface="Maiandra GD"/>
              </a:rPr>
              <a:t>Testing and Submission</a:t>
            </a:r>
          </a:p>
        </p:txBody>
      </p:sp>
      <p:sp>
        <p:nvSpPr>
          <p:cNvPr id="41" name="TextBox 40"/>
          <p:cNvSpPr txBox="1"/>
          <p:nvPr/>
        </p:nvSpPr>
        <p:spPr>
          <a:xfrm>
            <a:off x="8403336" y="4873752"/>
            <a:ext cx="3108960" cy="914400"/>
          </a:xfrm>
          <a:prstGeom prst="rect">
            <a:avLst/>
          </a:prstGeom>
          <a:noFill/>
        </p:spPr>
        <p:txBody>
          <a:bodyPr wrap="square" lIns="45720" tIns="27432" rIns="45720" bIns="27432" anchor="t">
            <a:spAutoFit/>
          </a:bodyPr>
          <a:lstStyle/>
          <a:p>
            <a:pPr algn="l">
              <a:spcAft>
                <a:spcPts val="0"/>
              </a:spcAft>
            </a:pPr>
            <a:r>
              <a:rPr sz="1400" b="0" i="0">
                <a:solidFill>
                  <a:srgbClr val="1F2937"/>
                </a:solidFill>
                <a:latin typeface="Maiandra GD"/>
              </a:rPr>
              <a:t>Integration, valid and invalid test cases, documentation and viva.</a:t>
            </a:r>
          </a:p>
        </p:txBody>
      </p:sp>
    </p:spTree>
    <p:extLst>
      <p:ext uri="{BB962C8B-B14F-4D97-AF65-F5344CB8AC3E}">
        <p14:creationId xmlns:p14="http://schemas.microsoft.com/office/powerpoint/2010/main" val="3857286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1F4F9BD-9319-D2E0-8636-3098BEFC64A9}"/>
              </a:ext>
            </a:extLst>
          </p:cNvPr>
          <p:cNvSpPr>
            <a:spLocks noGrp="1"/>
          </p:cNvSpPr>
          <p:nvPr>
            <p:ph type="dt" sz="half" idx="11"/>
          </p:nvPr>
        </p:nvSpPr>
        <p:spPr/>
        <p:txBody>
          <a:bodyPr/>
          <a:lstStyle/>
          <a:p>
            <a:fld id="{8368060C-F3A5-4600-9262-589A0797613D}" type="datetime1">
              <a:rPr lang="en-IN" smtClean="0"/>
              <a:pPr/>
              <a:t>16-10-2026</a:t>
            </a:fld>
            <a:endParaRPr lang="en-US" dirty="0"/>
          </a:p>
        </p:txBody>
      </p:sp>
      <p:sp>
        <p:nvSpPr>
          <p:cNvPr id="4" name="Footer Placeholder 3">
            <a:extLst>
              <a:ext uri="{FF2B5EF4-FFF2-40B4-BE49-F238E27FC236}">
                <a16:creationId xmlns:a16="http://schemas.microsoft.com/office/drawing/2014/main" id="{138FF308-5C35-0378-2319-6F36460D20EA}"/>
              </a:ext>
            </a:extLst>
          </p:cNvPr>
          <p:cNvSpPr>
            <a:spLocks noGrp="1"/>
          </p:cNvSpPr>
          <p:nvPr>
            <p:ph type="ftr" sz="quarter" idx="12"/>
          </p:nvPr>
        </p:nvSpPr>
        <p:spPr/>
        <p:txBody>
          <a:bodyPr/>
          <a:lstStyle/>
          <a:p>
            <a:r>
              <a:rPr lang="en-US"/>
              <a:t>OOPS Through C++                    Thorati Vijaya Lakshmi, Asst. Professor, AIML</a:t>
            </a:r>
            <a:endParaRPr lang="en-US" dirty="0"/>
          </a:p>
        </p:txBody>
      </p:sp>
      <p:sp>
        <p:nvSpPr>
          <p:cNvPr id="5" name="Slide Number Placeholder 4">
            <a:extLst>
              <a:ext uri="{FF2B5EF4-FFF2-40B4-BE49-F238E27FC236}">
                <a16:creationId xmlns:a16="http://schemas.microsoft.com/office/drawing/2014/main" id="{A051B4C0-FD15-B311-5D34-72169B4D5856}"/>
              </a:ext>
            </a:extLst>
          </p:cNvPr>
          <p:cNvSpPr>
            <a:spLocks noGrp="1"/>
          </p:cNvSpPr>
          <p:nvPr>
            <p:ph type="sldNum" sz="quarter" idx="13"/>
          </p:nvPr>
        </p:nvSpPr>
        <p:spPr/>
        <p:txBody>
          <a:bodyPr/>
          <a:lstStyle/>
          <a:p>
            <a:fld id="{326EF2E3-409D-4D76-AD02-397A36B0DAF9}" type="slidenum">
              <a:rPr lang="en-US" smtClean="0"/>
              <a:pPr/>
              <a:t>15</a:t>
            </a:fld>
            <a:endParaRPr lang="en-US"/>
          </a:p>
        </p:txBody>
      </p:sp>
      <p:sp>
        <p:nvSpPr>
          <p:cNvPr id="7" name="Title 1">
            <a:extLst>
              <a:ext uri="{FF2B5EF4-FFF2-40B4-BE49-F238E27FC236}">
                <a16:creationId xmlns:a16="http://schemas.microsoft.com/office/drawing/2014/main" id="{643EE3A8-D6E0-8657-3D7C-5250240C4E8F}"/>
              </a:ext>
            </a:extLst>
          </p:cNvPr>
          <p:cNvSpPr txBox="1">
            <a:spLocks/>
          </p:cNvSpPr>
          <p:nvPr/>
        </p:nvSpPr>
        <p:spPr>
          <a:xfrm>
            <a:off x="1984248" y="232461"/>
            <a:ext cx="8229600" cy="748267"/>
          </a:xfrm>
          <a:prstGeom prst="rect">
            <a:avLst/>
          </a:prstGeom>
        </p:spPr>
        <p:txBody>
          <a:bodyPr vert="horz" lIns="91440" tIns="45720" rIns="91440" bIns="45720" rtlCol="0" anchor="ctr">
            <a:noAutofit/>
          </a:bodyPr>
          <a:lstStyle/>
          <a:p>
            <a:pPr algn="ctr"/>
            <a:r>
              <a:rPr lang="en-US" sz="3400" b="1" dirty="0">
                <a:solidFill>
                  <a:srgbClr val="0070C0"/>
                </a:solidFill>
                <a:latin typeface="Maiandra GD" pitchFamily="34" charset="0"/>
              </a:rPr>
              <a:t>ROLE OF EACH INDIVIDUAL</a:t>
            </a:r>
          </a:p>
        </p:txBody>
      </p:sp>
      <p:sp>
        <p:nvSpPr>
          <p:cNvPr id="8" name="Rounded Rectangle 7"/>
          <p:cNvSpPr/>
          <p:nvPr/>
        </p:nvSpPr>
        <p:spPr>
          <a:xfrm>
            <a:off x="548640" y="1234440"/>
            <a:ext cx="5440680" cy="21031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13232" y="1399032"/>
            <a:ext cx="640080" cy="64008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TS</a:t>
            </a:r>
          </a:p>
        </p:txBody>
      </p:sp>
      <p:sp>
        <p:nvSpPr>
          <p:cNvPr id="10" name="TextBox 9"/>
          <p:cNvSpPr txBox="1"/>
          <p:nvPr/>
        </p:nvSpPr>
        <p:spPr>
          <a:xfrm>
            <a:off x="1463040" y="1371600"/>
            <a:ext cx="4389120" cy="365760"/>
          </a:xfrm>
          <a:prstGeom prst="rect">
            <a:avLst/>
          </a:prstGeom>
          <a:noFill/>
        </p:spPr>
        <p:txBody>
          <a:bodyPr wrap="square" lIns="45720" tIns="27432" rIns="45720" bIns="27432" anchor="t">
            <a:spAutoFit/>
          </a:bodyPr>
          <a:lstStyle/>
          <a:p>
            <a:pPr algn="l">
              <a:spcAft>
                <a:spcPts val="0"/>
              </a:spcAft>
            </a:pPr>
            <a:r>
              <a:rPr sz="1900" b="1" i="0">
                <a:solidFill>
                  <a:srgbClr val="0070C0"/>
                </a:solidFill>
                <a:latin typeface="Maiandra GD"/>
              </a:rPr>
              <a:t>Tirumala Srinivas</a:t>
            </a:r>
          </a:p>
        </p:txBody>
      </p:sp>
      <p:sp>
        <p:nvSpPr>
          <p:cNvPr id="11" name="TextBox 10"/>
          <p:cNvSpPr txBox="1"/>
          <p:nvPr/>
        </p:nvSpPr>
        <p:spPr>
          <a:xfrm>
            <a:off x="1463040" y="1737360"/>
            <a:ext cx="4389120" cy="274320"/>
          </a:xfrm>
          <a:prstGeom prst="rect">
            <a:avLst/>
          </a:prstGeom>
          <a:noFill/>
        </p:spPr>
        <p:txBody>
          <a:bodyPr wrap="square" lIns="45720" tIns="27432" rIns="45720" bIns="27432" anchor="t">
            <a:spAutoFit/>
          </a:bodyPr>
          <a:lstStyle/>
          <a:p>
            <a:pPr algn="l">
              <a:spcAft>
                <a:spcPts val="0"/>
              </a:spcAft>
            </a:pPr>
            <a:r>
              <a:rPr sz="1400" b="1" i="0">
                <a:solidFill>
                  <a:srgbClr val="C55A11"/>
                </a:solidFill>
                <a:latin typeface="Maiandra GD"/>
              </a:rPr>
              <a:t>25B11AAID13</a:t>
            </a:r>
          </a:p>
        </p:txBody>
      </p:sp>
      <p:sp>
        <p:nvSpPr>
          <p:cNvPr id="12" name="TextBox 11"/>
          <p:cNvSpPr txBox="1"/>
          <p:nvPr/>
        </p:nvSpPr>
        <p:spPr>
          <a:xfrm>
            <a:off x="731520" y="2130552"/>
            <a:ext cx="5120640" cy="1188720"/>
          </a:xfrm>
          <a:prstGeom prst="rect">
            <a:avLst/>
          </a:prstGeom>
          <a:noFill/>
        </p:spPr>
        <p:txBody>
          <a:bodyPr wrap="square" lIns="45720" tIns="27432" rIns="45720" bIns="27432" anchor="t">
            <a:spAutoFit/>
          </a:bodyPr>
          <a:lstStyle/>
          <a:p>
            <a:pPr marL="285750" indent="-285750" algn="l">
              <a:spcAft>
                <a:spcPts val="200"/>
              </a:spcAft>
              <a:buFont typeface="Arial"/>
              <a:buChar char="•"/>
            </a:pPr>
            <a:r>
              <a:rPr sz="1400" b="0" i="0">
                <a:solidFill>
                  <a:srgbClr val="1F2937"/>
                </a:solidFill>
                <a:latin typeface="Maiandra GD"/>
              </a:rPr>
              <a:t>C++ classes: Employee, SalaryRecord, PayrollProcessor</a:t>
            </a:r>
          </a:p>
          <a:p>
            <a:pPr marL="285750" indent="-285750" algn="l">
              <a:spcAft>
                <a:spcPts val="200"/>
              </a:spcAft>
              <a:buFont typeface="Arial"/>
              <a:buChar char="•"/>
            </a:pPr>
            <a:r>
              <a:rPr sz="1400" b="0" i="0">
                <a:solidFill>
                  <a:srgbClr val="1F2937"/>
                </a:solidFill>
                <a:latin typeface="Maiandra GD"/>
              </a:rPr>
              <a:t>Overall class design and OOP concepts</a:t>
            </a:r>
          </a:p>
          <a:p>
            <a:pPr marL="285750" indent="-285750" algn="l">
              <a:spcAft>
                <a:spcPts val="200"/>
              </a:spcAft>
              <a:buFont typeface="Arial"/>
              <a:buChar char="•"/>
            </a:pPr>
            <a:r>
              <a:rPr sz="1400" b="0" i="0">
                <a:solidFill>
                  <a:srgbClr val="1F2937"/>
                </a:solidFill>
                <a:latin typeface="Maiandra GD"/>
              </a:rPr>
              <a:t>Salary, OT and net pay calculation</a:t>
            </a:r>
          </a:p>
        </p:txBody>
      </p:sp>
      <p:sp>
        <p:nvSpPr>
          <p:cNvPr id="13" name="Rounded Rectangle 12"/>
          <p:cNvSpPr/>
          <p:nvPr/>
        </p:nvSpPr>
        <p:spPr>
          <a:xfrm>
            <a:off x="6190488" y="1234440"/>
            <a:ext cx="5440680" cy="21031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55079" y="1399032"/>
            <a:ext cx="640080" cy="64008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L</a:t>
            </a:r>
          </a:p>
        </p:txBody>
      </p:sp>
      <p:sp>
        <p:nvSpPr>
          <p:cNvPr id="15" name="TextBox 14"/>
          <p:cNvSpPr txBox="1"/>
          <p:nvPr/>
        </p:nvSpPr>
        <p:spPr>
          <a:xfrm>
            <a:off x="7104888" y="1371600"/>
            <a:ext cx="4389120" cy="365760"/>
          </a:xfrm>
          <a:prstGeom prst="rect">
            <a:avLst/>
          </a:prstGeom>
          <a:noFill/>
        </p:spPr>
        <p:txBody>
          <a:bodyPr wrap="square" lIns="45720" tIns="27432" rIns="45720" bIns="27432" anchor="t">
            <a:spAutoFit/>
          </a:bodyPr>
          <a:lstStyle/>
          <a:p>
            <a:pPr algn="l">
              <a:spcAft>
                <a:spcPts val="0"/>
              </a:spcAft>
            </a:pPr>
            <a:r>
              <a:rPr sz="1900" b="1" i="0">
                <a:solidFill>
                  <a:srgbClr val="0070C0"/>
                </a:solidFill>
                <a:latin typeface="Maiandra GD"/>
              </a:rPr>
              <a:t>Lasya</a:t>
            </a:r>
          </a:p>
        </p:txBody>
      </p:sp>
      <p:sp>
        <p:nvSpPr>
          <p:cNvPr id="16" name="TextBox 15"/>
          <p:cNvSpPr txBox="1"/>
          <p:nvPr/>
        </p:nvSpPr>
        <p:spPr>
          <a:xfrm>
            <a:off x="7104888" y="1737360"/>
            <a:ext cx="4389120" cy="274320"/>
          </a:xfrm>
          <a:prstGeom prst="rect">
            <a:avLst/>
          </a:prstGeom>
          <a:noFill/>
        </p:spPr>
        <p:txBody>
          <a:bodyPr wrap="square" lIns="45720" tIns="27432" rIns="45720" bIns="27432" anchor="t">
            <a:spAutoFit/>
          </a:bodyPr>
          <a:lstStyle/>
          <a:p>
            <a:pPr algn="l">
              <a:spcAft>
                <a:spcPts val="0"/>
              </a:spcAft>
            </a:pPr>
            <a:r>
              <a:rPr sz="1400" b="1" i="0">
                <a:solidFill>
                  <a:srgbClr val="C55A11"/>
                </a:solidFill>
                <a:latin typeface="Maiandra GD"/>
              </a:rPr>
              <a:t>25B11AI841</a:t>
            </a:r>
          </a:p>
        </p:txBody>
      </p:sp>
      <p:sp>
        <p:nvSpPr>
          <p:cNvPr id="17" name="TextBox 16"/>
          <p:cNvSpPr txBox="1"/>
          <p:nvPr/>
        </p:nvSpPr>
        <p:spPr>
          <a:xfrm>
            <a:off x="6373368" y="2130552"/>
            <a:ext cx="5120640" cy="1188720"/>
          </a:xfrm>
          <a:prstGeom prst="rect">
            <a:avLst/>
          </a:prstGeom>
          <a:noFill/>
        </p:spPr>
        <p:txBody>
          <a:bodyPr wrap="square" lIns="45720" tIns="27432" rIns="45720" bIns="27432" anchor="t">
            <a:spAutoFit/>
          </a:bodyPr>
          <a:lstStyle/>
          <a:p>
            <a:pPr marL="285750" indent="-285750" algn="l">
              <a:spcAft>
                <a:spcPts val="200"/>
              </a:spcAft>
              <a:buFont typeface="Arial"/>
              <a:buChar char="•"/>
            </a:pPr>
            <a:r>
              <a:rPr sz="1400" b="0" i="0">
                <a:solidFill>
                  <a:srgbClr val="1F2937"/>
                </a:solidFill>
                <a:latin typeface="Maiandra GD"/>
              </a:rPr>
              <a:t>PFCalculator and ESICCalculator</a:t>
            </a:r>
          </a:p>
          <a:p>
            <a:pPr marL="285750" indent="-285750" algn="l">
              <a:spcAft>
                <a:spcPts val="200"/>
              </a:spcAft>
              <a:buFont typeface="Arial"/>
              <a:buChar char="•"/>
            </a:pPr>
            <a:r>
              <a:rPr sz="1400" b="0" i="0">
                <a:solidFill>
                  <a:srgbClr val="1F2937"/>
                </a:solidFill>
                <a:latin typeface="Maiandra GD"/>
              </a:rPr>
              <a:t>Validation rules and exception handling</a:t>
            </a:r>
          </a:p>
          <a:p>
            <a:pPr marL="285750" indent="-285750" algn="l">
              <a:spcAft>
                <a:spcPts val="200"/>
              </a:spcAft>
              <a:buFont typeface="Arial"/>
              <a:buChar char="•"/>
            </a:pPr>
            <a:r>
              <a:rPr sz="1400" b="0" i="0">
                <a:solidFill>
                  <a:srgbClr val="1F2937"/>
                </a:solidFill>
                <a:latin typeface="Maiandra GD"/>
              </a:rPr>
              <a:t>Testing with valid and invalid data</a:t>
            </a:r>
          </a:p>
        </p:txBody>
      </p:sp>
      <p:sp>
        <p:nvSpPr>
          <p:cNvPr id="18" name="Rounded Rectangle 17"/>
          <p:cNvSpPr/>
          <p:nvPr/>
        </p:nvSpPr>
        <p:spPr>
          <a:xfrm>
            <a:off x="548640" y="3520440"/>
            <a:ext cx="5440680" cy="21031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3232" y="3685032"/>
            <a:ext cx="640080" cy="64008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DJ</a:t>
            </a:r>
          </a:p>
        </p:txBody>
      </p:sp>
      <p:sp>
        <p:nvSpPr>
          <p:cNvPr id="20" name="TextBox 19"/>
          <p:cNvSpPr txBox="1"/>
          <p:nvPr/>
        </p:nvSpPr>
        <p:spPr>
          <a:xfrm>
            <a:off x="1463040" y="3657600"/>
            <a:ext cx="4389120" cy="365760"/>
          </a:xfrm>
          <a:prstGeom prst="rect">
            <a:avLst/>
          </a:prstGeom>
          <a:noFill/>
        </p:spPr>
        <p:txBody>
          <a:bodyPr wrap="square" lIns="45720" tIns="27432" rIns="45720" bIns="27432" anchor="t">
            <a:spAutoFit/>
          </a:bodyPr>
          <a:lstStyle/>
          <a:p>
            <a:pPr algn="l">
              <a:spcAft>
                <a:spcPts val="0"/>
              </a:spcAft>
            </a:pPr>
            <a:r>
              <a:rPr sz="1900" b="1" i="0">
                <a:solidFill>
                  <a:srgbClr val="0070C0"/>
                </a:solidFill>
                <a:latin typeface="Maiandra GD"/>
              </a:rPr>
              <a:t>D. Janani</a:t>
            </a:r>
          </a:p>
        </p:txBody>
      </p:sp>
      <p:sp>
        <p:nvSpPr>
          <p:cNvPr id="21" name="TextBox 20"/>
          <p:cNvSpPr txBox="1"/>
          <p:nvPr/>
        </p:nvSpPr>
        <p:spPr>
          <a:xfrm>
            <a:off x="1463040" y="4023360"/>
            <a:ext cx="4389120" cy="274320"/>
          </a:xfrm>
          <a:prstGeom prst="rect">
            <a:avLst/>
          </a:prstGeom>
          <a:noFill/>
        </p:spPr>
        <p:txBody>
          <a:bodyPr wrap="square" lIns="45720" tIns="27432" rIns="45720" bIns="27432" anchor="t">
            <a:spAutoFit/>
          </a:bodyPr>
          <a:lstStyle/>
          <a:p>
            <a:pPr algn="l">
              <a:spcAft>
                <a:spcPts val="0"/>
              </a:spcAft>
            </a:pPr>
            <a:r>
              <a:rPr sz="1400" b="1" i="0">
                <a:solidFill>
                  <a:srgbClr val="C55A11"/>
                </a:solidFill>
                <a:latin typeface="Maiandra GD"/>
              </a:rPr>
              <a:t>25B11AI274</a:t>
            </a:r>
          </a:p>
        </p:txBody>
      </p:sp>
      <p:sp>
        <p:nvSpPr>
          <p:cNvPr id="22" name="TextBox 21"/>
          <p:cNvSpPr txBox="1"/>
          <p:nvPr/>
        </p:nvSpPr>
        <p:spPr>
          <a:xfrm>
            <a:off x="731520" y="4416552"/>
            <a:ext cx="5120640" cy="1188720"/>
          </a:xfrm>
          <a:prstGeom prst="rect">
            <a:avLst/>
          </a:prstGeom>
          <a:noFill/>
        </p:spPr>
        <p:txBody>
          <a:bodyPr wrap="square" lIns="45720" tIns="27432" rIns="45720" bIns="27432" anchor="t">
            <a:spAutoFit/>
          </a:bodyPr>
          <a:lstStyle/>
          <a:p>
            <a:pPr marL="285750" indent="-285750" algn="l">
              <a:spcAft>
                <a:spcPts val="200"/>
              </a:spcAft>
              <a:buFont typeface="Arial"/>
              <a:buChar char="•"/>
            </a:pPr>
            <a:r>
              <a:rPr sz="1400" b="0" i="0">
                <a:solidFill>
                  <a:srgbClr val="1F2937"/>
                </a:solidFill>
                <a:latin typeface="Maiandra GD"/>
              </a:rPr>
              <a:t>React pages: dashboard, forms, payroll tables</a:t>
            </a:r>
          </a:p>
          <a:p>
            <a:pPr marL="285750" indent="-285750" algn="l">
              <a:spcAft>
                <a:spcPts val="200"/>
              </a:spcAft>
              <a:buFont typeface="Arial"/>
              <a:buChar char="•"/>
            </a:pPr>
            <a:r>
              <a:rPr sz="1400" b="0" i="0">
                <a:solidFill>
                  <a:srgbClr val="1F2937"/>
                </a:solidFill>
                <a:latin typeface="Maiandra GD"/>
              </a:rPr>
              <a:t>Reports and salary statement layout</a:t>
            </a:r>
          </a:p>
          <a:p>
            <a:pPr marL="285750" indent="-285750" algn="l">
              <a:spcAft>
                <a:spcPts val="200"/>
              </a:spcAft>
              <a:buFont typeface="Arial"/>
              <a:buChar char="•"/>
            </a:pPr>
            <a:r>
              <a:rPr sz="1400" b="0" i="0">
                <a:solidFill>
                  <a:srgbClr val="1F2937"/>
                </a:solidFill>
                <a:latin typeface="Maiandra GD"/>
              </a:rPr>
              <a:t>Project documentation and PPT</a:t>
            </a:r>
          </a:p>
        </p:txBody>
      </p:sp>
      <p:sp>
        <p:nvSpPr>
          <p:cNvPr id="23" name="Rounded Rectangle 22"/>
          <p:cNvSpPr/>
          <p:nvPr/>
        </p:nvSpPr>
        <p:spPr>
          <a:xfrm>
            <a:off x="6190488" y="3520440"/>
            <a:ext cx="5440680" cy="2103120"/>
          </a:xfrm>
          <a:prstGeom prst="roundRect">
            <a:avLst>
              <a:gd name="adj" fmla="val 6000"/>
            </a:avLst>
          </a:prstGeom>
          <a:solidFill>
            <a:srgbClr val="EAF3FB"/>
          </a:solidFill>
          <a:ln w="12700">
            <a:solidFill>
              <a:srgbClr val="BDD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355079" y="3685032"/>
            <a:ext cx="640080" cy="64008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Maiandra GD"/>
              </a:rPr>
              <a:t>CC</a:t>
            </a:r>
          </a:p>
        </p:txBody>
      </p:sp>
      <p:sp>
        <p:nvSpPr>
          <p:cNvPr id="25" name="TextBox 24"/>
          <p:cNvSpPr txBox="1"/>
          <p:nvPr/>
        </p:nvSpPr>
        <p:spPr>
          <a:xfrm>
            <a:off x="7104888" y="3657600"/>
            <a:ext cx="4389120" cy="365760"/>
          </a:xfrm>
          <a:prstGeom prst="rect">
            <a:avLst/>
          </a:prstGeom>
          <a:noFill/>
        </p:spPr>
        <p:txBody>
          <a:bodyPr wrap="square" lIns="45720" tIns="27432" rIns="45720" bIns="27432" anchor="t">
            <a:spAutoFit/>
          </a:bodyPr>
          <a:lstStyle/>
          <a:p>
            <a:pPr algn="l">
              <a:spcAft>
                <a:spcPts val="0"/>
              </a:spcAft>
            </a:pPr>
            <a:r>
              <a:rPr sz="1900" b="1" i="0">
                <a:solidFill>
                  <a:srgbClr val="0070C0"/>
                </a:solidFill>
                <a:latin typeface="Maiandra GD"/>
              </a:rPr>
              <a:t>Ch. Charan</a:t>
            </a:r>
          </a:p>
        </p:txBody>
      </p:sp>
      <p:sp>
        <p:nvSpPr>
          <p:cNvPr id="26" name="TextBox 25"/>
          <p:cNvSpPr txBox="1"/>
          <p:nvPr/>
        </p:nvSpPr>
        <p:spPr>
          <a:xfrm>
            <a:off x="7104888" y="4023360"/>
            <a:ext cx="4389120" cy="274320"/>
          </a:xfrm>
          <a:prstGeom prst="rect">
            <a:avLst/>
          </a:prstGeom>
          <a:noFill/>
        </p:spPr>
        <p:txBody>
          <a:bodyPr wrap="square" lIns="45720" tIns="27432" rIns="45720" bIns="27432" anchor="t">
            <a:spAutoFit/>
          </a:bodyPr>
          <a:lstStyle/>
          <a:p>
            <a:pPr algn="l">
              <a:spcAft>
                <a:spcPts val="0"/>
              </a:spcAft>
            </a:pPr>
            <a:r>
              <a:rPr sz="1400" b="1" i="0">
                <a:solidFill>
                  <a:srgbClr val="C55A11"/>
                </a:solidFill>
                <a:latin typeface="Maiandra GD"/>
              </a:rPr>
              <a:t>25B11AI19</a:t>
            </a:r>
          </a:p>
        </p:txBody>
      </p:sp>
      <p:sp>
        <p:nvSpPr>
          <p:cNvPr id="27" name="TextBox 26"/>
          <p:cNvSpPr txBox="1"/>
          <p:nvPr/>
        </p:nvSpPr>
        <p:spPr>
          <a:xfrm>
            <a:off x="6373368" y="4416552"/>
            <a:ext cx="5120640" cy="1188720"/>
          </a:xfrm>
          <a:prstGeom prst="rect">
            <a:avLst/>
          </a:prstGeom>
          <a:noFill/>
        </p:spPr>
        <p:txBody>
          <a:bodyPr wrap="square" lIns="45720" tIns="27432" rIns="45720" bIns="27432" anchor="t">
            <a:spAutoFit/>
          </a:bodyPr>
          <a:lstStyle/>
          <a:p>
            <a:pPr marL="285750" indent="-285750" algn="l">
              <a:spcAft>
                <a:spcPts val="200"/>
              </a:spcAft>
              <a:buFont typeface="Arial"/>
              <a:buChar char="•"/>
            </a:pPr>
            <a:r>
              <a:rPr sz="1400" b="0" i="0">
                <a:solidFill>
                  <a:srgbClr val="1F2937"/>
                </a:solidFill>
                <a:latin typeface="Maiandra GD"/>
              </a:rPr>
              <a:t>Node.js, Express APIs and MongoDB</a:t>
            </a:r>
          </a:p>
          <a:p>
            <a:pPr marL="285750" indent="-285750" algn="l">
              <a:spcAft>
                <a:spcPts val="200"/>
              </a:spcAft>
              <a:buFont typeface="Arial"/>
              <a:buChar char="•"/>
            </a:pPr>
            <a:r>
              <a:rPr sz="1400" b="0" i="0">
                <a:solidFill>
                  <a:srgbClr val="1F2937"/>
                </a:solidFill>
                <a:latin typeface="Maiandra GD"/>
              </a:rPr>
              <a:t>Employee documents and secure storage</a:t>
            </a:r>
          </a:p>
          <a:p>
            <a:pPr marL="285750" indent="-285750" algn="l">
              <a:spcAft>
                <a:spcPts val="200"/>
              </a:spcAft>
              <a:buFont typeface="Arial"/>
              <a:buChar char="•"/>
            </a:pPr>
            <a:r>
              <a:rPr sz="1400" b="0" i="0">
                <a:solidFill>
                  <a:srgbClr val="1F2937"/>
                </a:solidFill>
                <a:latin typeface="Maiandra GD"/>
              </a:rPr>
              <a:t>PF ECR and ESIC Excel export files</a:t>
            </a:r>
          </a:p>
        </p:txBody>
      </p:sp>
      <p:sp>
        <p:nvSpPr>
          <p:cNvPr id="28" name="Rounded Rectangle 27"/>
          <p:cNvSpPr/>
          <p:nvPr/>
        </p:nvSpPr>
        <p:spPr>
          <a:xfrm>
            <a:off x="548640" y="5669280"/>
            <a:ext cx="11064240" cy="50292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669280"/>
            <a:ext cx="10698480" cy="502920"/>
          </a:xfrm>
          <a:prstGeom prst="rect">
            <a:avLst/>
          </a:prstGeom>
          <a:noFill/>
        </p:spPr>
        <p:txBody>
          <a:bodyPr wrap="square" lIns="45720" tIns="27432" rIns="45720" bIns="27432" anchor="ctr">
            <a:spAutoFit/>
          </a:bodyPr>
          <a:lstStyle/>
          <a:p>
            <a:pPr algn="l">
              <a:spcAft>
                <a:spcPts val="0"/>
              </a:spcAft>
            </a:pPr>
            <a:r>
              <a:rPr sz="1600" b="1" i="0">
                <a:solidFill>
                  <a:srgbClr val="FFFFFF"/>
                </a:solidFill>
                <a:latin typeface="Maiandra GD"/>
              </a:rPr>
              <a:t>Project Guide:  Thorati Vijaya Lakshmi, Assistant Professor, Department of AIML</a:t>
            </a:r>
          </a:p>
        </p:txBody>
      </p:sp>
    </p:spTree>
    <p:extLst>
      <p:ext uri="{BB962C8B-B14F-4D97-AF65-F5344CB8AC3E}">
        <p14:creationId xmlns:p14="http://schemas.microsoft.com/office/powerpoint/2010/main" val="3623063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595406" y="2857496"/>
            <a:ext cx="9215502" cy="1363592"/>
          </a:xfrm>
          <a:prstGeom prst="rect">
            <a:avLst/>
          </a:prstGeom>
        </p:spPr>
        <p:txBody>
          <a:bodyPr vert="horz" lIns="91440" tIns="45720" rIns="91440" bIns="45720" rtlCol="0" anchor="ctr">
            <a:noAutofit/>
          </a:bodyPr>
          <a:lstStyle/>
          <a:p>
            <a:pPr marL="514350" indent="-514350" algn="ctr" defTabSz="914400">
              <a:lnSpc>
                <a:spcPct val="170000"/>
              </a:lnSpc>
              <a:spcBef>
                <a:spcPct val="0"/>
              </a:spcBef>
              <a:defRPr/>
            </a:pPr>
            <a:r>
              <a:rPr lang="en-US" sz="7200" b="1" spc="-50" dirty="0">
                <a:solidFill>
                  <a:schemeClr val="accent1">
                    <a:lumMod val="75000"/>
                  </a:schemeClr>
                </a:solidFill>
                <a:latin typeface="Maiandra GD" pitchFamily="34" charset="0"/>
              </a:rPr>
              <a:t>Thank You</a:t>
            </a:r>
          </a:p>
        </p:txBody>
      </p:sp>
      <p:sp>
        <p:nvSpPr>
          <p:cNvPr id="4" name="Slide Number Placeholder 3">
            <a:extLst>
              <a:ext uri="{FF2B5EF4-FFF2-40B4-BE49-F238E27FC236}">
                <a16:creationId xmlns:a16="http://schemas.microsoft.com/office/drawing/2014/main" id="{80214EE3-5496-7B8C-B18E-94D50E1BC7DF}"/>
              </a:ext>
            </a:extLst>
          </p:cNvPr>
          <p:cNvSpPr>
            <a:spLocks noGrp="1"/>
          </p:cNvSpPr>
          <p:nvPr>
            <p:ph type="sldNum" sz="quarter" idx="13"/>
          </p:nvPr>
        </p:nvSpPr>
        <p:spPr>
          <a:xfrm>
            <a:off x="10272464" y="6376243"/>
            <a:ext cx="1081336" cy="365125"/>
          </a:xfrm>
        </p:spPr>
        <p:txBody>
          <a:bodyPr/>
          <a:lstStyle/>
          <a:p>
            <a:fld id="{326EF2E3-409D-4D76-AD02-397A36B0DAF9}" type="slidenum">
              <a:rPr lang="en-US" smtClean="0"/>
              <a:pPr/>
              <a:t>16</a:t>
            </a:fld>
            <a:endParaRPr lang="en-US"/>
          </a:p>
        </p:txBody>
      </p:sp>
      <p:sp>
        <p:nvSpPr>
          <p:cNvPr id="5" name="Date Placeholder 4">
            <a:extLst>
              <a:ext uri="{FF2B5EF4-FFF2-40B4-BE49-F238E27FC236}">
                <a16:creationId xmlns:a16="http://schemas.microsoft.com/office/drawing/2014/main" id="{C253D38A-2A8A-779C-9C3F-C2C0B98EADB8}"/>
              </a:ext>
            </a:extLst>
          </p:cNvPr>
          <p:cNvSpPr>
            <a:spLocks noGrp="1"/>
          </p:cNvSpPr>
          <p:nvPr>
            <p:ph type="dt" sz="half" idx="11"/>
          </p:nvPr>
        </p:nvSpPr>
        <p:spPr>
          <a:xfrm>
            <a:off x="838200" y="6356350"/>
            <a:ext cx="1729408" cy="365125"/>
          </a:xfrm>
        </p:spPr>
        <p:txBody>
          <a:bodyPr/>
          <a:lstStyle/>
          <a:p>
            <a:fld id="{77872B90-8FC8-4DA6-866A-D11AE0759B4E}" type="datetime1">
              <a:rPr lang="en-IN" smtClean="0"/>
              <a:pPr/>
              <a:t>16-10-2026</a:t>
            </a:fld>
            <a:endParaRPr lang="en-US"/>
          </a:p>
        </p:txBody>
      </p:sp>
      <p:sp>
        <p:nvSpPr>
          <p:cNvPr id="6" name="Footer Placeholder 5">
            <a:extLst>
              <a:ext uri="{FF2B5EF4-FFF2-40B4-BE49-F238E27FC236}">
                <a16:creationId xmlns:a16="http://schemas.microsoft.com/office/drawing/2014/main" id="{C88D412B-71B5-900C-A48A-B27CD70501C9}"/>
              </a:ext>
            </a:extLst>
          </p:cNvPr>
          <p:cNvSpPr>
            <a:spLocks noGrp="1"/>
          </p:cNvSpPr>
          <p:nvPr>
            <p:ph type="ftr" sz="quarter" idx="12"/>
          </p:nvPr>
        </p:nvSpPr>
        <p:spPr>
          <a:xfrm>
            <a:off x="3287688" y="6356350"/>
            <a:ext cx="6120680" cy="365125"/>
          </a:xfrm>
        </p:spPr>
        <p:txBody>
          <a:bodyPr/>
          <a:lstStyle/>
          <a:p>
            <a:r>
              <a:rPr lang="en-US"/>
              <a:t>OOPS Through C++                    Thorati Vijaya Lakshmi, Asst. Professor, AIML</a:t>
            </a:r>
          </a:p>
        </p:txBody>
      </p:sp>
      <p:sp>
        <p:nvSpPr>
          <p:cNvPr id="17" name="TextBox 16"/>
          <p:cNvSpPr txBox="1"/>
          <p:nvPr/>
        </p:nvSpPr>
        <p:spPr>
          <a:xfrm>
            <a:off x="1463040" y="4892040"/>
            <a:ext cx="9235440" cy="548640"/>
          </a:xfrm>
          <a:prstGeom prst="rect">
            <a:avLst/>
          </a:prstGeom>
          <a:noFill/>
        </p:spPr>
        <p:txBody>
          <a:bodyPr wrap="square" lIns="45720" tIns="27432" rIns="45720" bIns="27432" anchor="t">
            <a:spAutoFit/>
          </a:bodyPr>
          <a:lstStyle/>
          <a:p>
            <a:pPr algn="ctr">
              <a:spcAft>
                <a:spcPts val="0"/>
              </a:spcAft>
            </a:pPr>
            <a:r>
              <a:rPr sz="2200" b="1" i="0">
                <a:solidFill>
                  <a:srgbClr val="002060"/>
                </a:solidFill>
                <a:latin typeface="Maiandra GD"/>
              </a:rPr>
              <a:t>Salary Enroll Pay System  |  Any questions?</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6746</TotalTime>
  <Words>2031</Words>
  <Application>Microsoft Office PowerPoint</Application>
  <PresentationFormat>Widescreen</PresentationFormat>
  <Paragraphs>346</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Courier New</vt:lpstr>
      <vt:lpstr>Maiandra GD</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ram</cp:lastModifiedBy>
  <cp:revision>717</cp:revision>
  <cp:lastPrinted>2023-06-09T04:58:36Z</cp:lastPrinted>
  <dcterms:created xsi:type="dcterms:W3CDTF">2019-12-14T03:50:52Z</dcterms:created>
  <dcterms:modified xsi:type="dcterms:W3CDTF">2026-10-16T03:52:58Z</dcterms:modified>
</cp:coreProperties>
</file>